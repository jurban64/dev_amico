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21913850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EC9"/>
    <a:srgbClr val="4DA1D1"/>
    <a:srgbClr val="674600"/>
    <a:srgbClr val="5D0000"/>
    <a:srgbClr val="D4C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/>
    <p:restoredTop sz="94654"/>
  </p:normalViewPr>
  <p:slideViewPr>
    <p:cSldViewPr snapToGrid="0">
      <p:cViewPr>
        <p:scale>
          <a:sx n="42" d="100"/>
          <a:sy n="42" d="100"/>
        </p:scale>
        <p:origin x="4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3540" y="3534924"/>
            <a:ext cx="18626773" cy="7519835"/>
          </a:xfrm>
        </p:spPr>
        <p:txBody>
          <a:bodyPr anchor="b"/>
          <a:lstStyle>
            <a:lvl1pPr algn="ctr">
              <a:defRPr sz="14379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39232" y="11344752"/>
            <a:ext cx="16435388" cy="5214884"/>
          </a:xfrm>
        </p:spPr>
        <p:txBody>
          <a:bodyPr/>
          <a:lstStyle>
            <a:lvl1pPr marL="0" indent="0" algn="ctr">
              <a:buNone/>
              <a:defRPr sz="5752"/>
            </a:lvl1pPr>
            <a:lvl2pPr marL="1095653" indent="0" algn="ctr">
              <a:buNone/>
              <a:defRPr sz="4793"/>
            </a:lvl2pPr>
            <a:lvl3pPr marL="2191304" indent="0" algn="ctr">
              <a:buNone/>
              <a:defRPr sz="4314"/>
            </a:lvl3pPr>
            <a:lvl4pPr marL="3286956" indent="0" algn="ctr">
              <a:buNone/>
              <a:defRPr sz="3834"/>
            </a:lvl4pPr>
            <a:lvl5pPr marL="4382608" indent="0" algn="ctr">
              <a:buNone/>
              <a:defRPr sz="3834"/>
            </a:lvl5pPr>
            <a:lvl6pPr marL="5478261" indent="0" algn="ctr">
              <a:buNone/>
              <a:defRPr sz="3834"/>
            </a:lvl6pPr>
            <a:lvl7pPr marL="6573913" indent="0" algn="ctr">
              <a:buNone/>
              <a:defRPr sz="3834"/>
            </a:lvl7pPr>
            <a:lvl8pPr marL="7669565" indent="0" algn="ctr">
              <a:buNone/>
              <a:defRPr sz="3834"/>
            </a:lvl8pPr>
            <a:lvl9pPr marL="8765217" indent="0" algn="ctr">
              <a:buNone/>
              <a:defRPr sz="3834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405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6305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165" y="5384890"/>
            <a:ext cx="18900696" cy="8984801"/>
          </a:xfrm>
        </p:spPr>
        <p:txBody>
          <a:bodyPr anchor="b"/>
          <a:lstStyle>
            <a:lvl1pPr>
              <a:defRPr sz="14379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165" y="14454690"/>
            <a:ext cx="18900696" cy="4724895"/>
          </a:xfrm>
        </p:spPr>
        <p:txBody>
          <a:bodyPr/>
          <a:lstStyle>
            <a:lvl1pPr marL="0" indent="0">
              <a:buNone/>
              <a:defRPr sz="5752">
                <a:solidFill>
                  <a:schemeClr val="tx1">
                    <a:tint val="82000"/>
                  </a:schemeClr>
                </a:solidFill>
              </a:defRPr>
            </a:lvl1pPr>
            <a:lvl2pPr marL="1095653" indent="0">
              <a:buNone/>
              <a:defRPr sz="4793">
                <a:solidFill>
                  <a:schemeClr val="tx1">
                    <a:tint val="82000"/>
                  </a:schemeClr>
                </a:solidFill>
              </a:defRPr>
            </a:lvl2pPr>
            <a:lvl3pPr marL="2191304" indent="0">
              <a:buNone/>
              <a:defRPr sz="4314">
                <a:solidFill>
                  <a:schemeClr val="tx1">
                    <a:tint val="82000"/>
                  </a:schemeClr>
                </a:solidFill>
              </a:defRPr>
            </a:lvl3pPr>
            <a:lvl4pPr marL="3286956" indent="0">
              <a:buNone/>
              <a:defRPr sz="3834">
                <a:solidFill>
                  <a:schemeClr val="tx1">
                    <a:tint val="82000"/>
                  </a:schemeClr>
                </a:solidFill>
              </a:defRPr>
            </a:lvl4pPr>
            <a:lvl5pPr marL="4382608" indent="0">
              <a:buNone/>
              <a:defRPr sz="3834">
                <a:solidFill>
                  <a:schemeClr val="tx1">
                    <a:tint val="82000"/>
                  </a:schemeClr>
                </a:solidFill>
              </a:defRPr>
            </a:lvl5pPr>
            <a:lvl6pPr marL="5478261" indent="0">
              <a:buNone/>
              <a:defRPr sz="3834">
                <a:solidFill>
                  <a:schemeClr val="tx1">
                    <a:tint val="82000"/>
                  </a:schemeClr>
                </a:solidFill>
              </a:defRPr>
            </a:lvl6pPr>
            <a:lvl7pPr marL="6573913" indent="0">
              <a:buNone/>
              <a:defRPr sz="3834">
                <a:solidFill>
                  <a:schemeClr val="tx1">
                    <a:tint val="82000"/>
                  </a:schemeClr>
                </a:solidFill>
              </a:defRPr>
            </a:lvl7pPr>
            <a:lvl8pPr marL="7669565" indent="0">
              <a:buNone/>
              <a:defRPr sz="3834">
                <a:solidFill>
                  <a:schemeClr val="tx1">
                    <a:tint val="82000"/>
                  </a:schemeClr>
                </a:solidFill>
              </a:defRPr>
            </a:lvl8pPr>
            <a:lvl9pPr marL="8765217" indent="0">
              <a:buNone/>
              <a:defRPr sz="38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5859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6577" y="5749874"/>
            <a:ext cx="9313386" cy="137047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93887" y="5749874"/>
            <a:ext cx="9313386" cy="137047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8632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431" y="1149979"/>
            <a:ext cx="18900696" cy="417491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9434" y="5294887"/>
            <a:ext cx="9270584" cy="2594941"/>
          </a:xfrm>
        </p:spPr>
        <p:txBody>
          <a:bodyPr anchor="b"/>
          <a:lstStyle>
            <a:lvl1pPr marL="0" indent="0">
              <a:buNone/>
              <a:defRPr sz="5752" b="1"/>
            </a:lvl1pPr>
            <a:lvl2pPr marL="1095653" indent="0">
              <a:buNone/>
              <a:defRPr sz="4793" b="1"/>
            </a:lvl2pPr>
            <a:lvl3pPr marL="2191304" indent="0">
              <a:buNone/>
              <a:defRPr sz="4314" b="1"/>
            </a:lvl3pPr>
            <a:lvl4pPr marL="3286956" indent="0">
              <a:buNone/>
              <a:defRPr sz="3834" b="1"/>
            </a:lvl4pPr>
            <a:lvl5pPr marL="4382608" indent="0">
              <a:buNone/>
              <a:defRPr sz="3834" b="1"/>
            </a:lvl5pPr>
            <a:lvl6pPr marL="5478261" indent="0">
              <a:buNone/>
              <a:defRPr sz="3834" b="1"/>
            </a:lvl6pPr>
            <a:lvl7pPr marL="6573913" indent="0">
              <a:buNone/>
              <a:defRPr sz="3834" b="1"/>
            </a:lvl7pPr>
            <a:lvl8pPr marL="7669565" indent="0">
              <a:buNone/>
              <a:defRPr sz="3834" b="1"/>
            </a:lvl8pPr>
            <a:lvl9pPr marL="8765217" indent="0">
              <a:buNone/>
              <a:defRPr sz="3834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09434" y="7889827"/>
            <a:ext cx="9270584" cy="1160474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93888" y="5294887"/>
            <a:ext cx="9316241" cy="2594941"/>
          </a:xfrm>
        </p:spPr>
        <p:txBody>
          <a:bodyPr anchor="b"/>
          <a:lstStyle>
            <a:lvl1pPr marL="0" indent="0">
              <a:buNone/>
              <a:defRPr sz="5752" b="1"/>
            </a:lvl1pPr>
            <a:lvl2pPr marL="1095653" indent="0">
              <a:buNone/>
              <a:defRPr sz="4793" b="1"/>
            </a:lvl2pPr>
            <a:lvl3pPr marL="2191304" indent="0">
              <a:buNone/>
              <a:defRPr sz="4314" b="1"/>
            </a:lvl3pPr>
            <a:lvl4pPr marL="3286956" indent="0">
              <a:buNone/>
              <a:defRPr sz="3834" b="1"/>
            </a:lvl4pPr>
            <a:lvl5pPr marL="4382608" indent="0">
              <a:buNone/>
              <a:defRPr sz="3834" b="1"/>
            </a:lvl5pPr>
            <a:lvl6pPr marL="5478261" indent="0">
              <a:buNone/>
              <a:defRPr sz="3834" b="1"/>
            </a:lvl6pPr>
            <a:lvl7pPr marL="6573913" indent="0">
              <a:buNone/>
              <a:defRPr sz="3834" b="1"/>
            </a:lvl7pPr>
            <a:lvl8pPr marL="7669565" indent="0">
              <a:buNone/>
              <a:defRPr sz="3834" b="1"/>
            </a:lvl8pPr>
            <a:lvl9pPr marL="8765217" indent="0">
              <a:buNone/>
              <a:defRPr sz="3834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093888" y="7889827"/>
            <a:ext cx="9316241" cy="1160474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7238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3904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753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432" y="1439970"/>
            <a:ext cx="7067787" cy="5039889"/>
          </a:xfrm>
        </p:spPr>
        <p:txBody>
          <a:bodyPr anchor="b"/>
          <a:lstStyle>
            <a:lvl1pPr>
              <a:defRPr sz="7669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6240" y="3109937"/>
            <a:ext cx="11093887" cy="15349662"/>
          </a:xfrm>
        </p:spPr>
        <p:txBody>
          <a:bodyPr/>
          <a:lstStyle>
            <a:lvl1pPr>
              <a:defRPr sz="7669"/>
            </a:lvl1pPr>
            <a:lvl2pPr>
              <a:defRPr sz="6710"/>
            </a:lvl2pPr>
            <a:lvl3pPr>
              <a:defRPr sz="5752"/>
            </a:lvl3pPr>
            <a:lvl4pPr>
              <a:defRPr sz="4793"/>
            </a:lvl4pPr>
            <a:lvl5pPr>
              <a:defRPr sz="4793"/>
            </a:lvl5pPr>
            <a:lvl6pPr>
              <a:defRPr sz="4793"/>
            </a:lvl6pPr>
            <a:lvl7pPr>
              <a:defRPr sz="4793"/>
            </a:lvl7pPr>
            <a:lvl8pPr>
              <a:defRPr sz="4793"/>
            </a:lvl8pPr>
            <a:lvl9pPr>
              <a:defRPr sz="4793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09432" y="6479857"/>
            <a:ext cx="7067787" cy="12004738"/>
          </a:xfrm>
        </p:spPr>
        <p:txBody>
          <a:bodyPr/>
          <a:lstStyle>
            <a:lvl1pPr marL="0" indent="0">
              <a:buNone/>
              <a:defRPr sz="3834"/>
            </a:lvl1pPr>
            <a:lvl2pPr marL="1095653" indent="0">
              <a:buNone/>
              <a:defRPr sz="3355"/>
            </a:lvl2pPr>
            <a:lvl3pPr marL="2191304" indent="0">
              <a:buNone/>
              <a:defRPr sz="2876"/>
            </a:lvl3pPr>
            <a:lvl4pPr marL="3286956" indent="0">
              <a:buNone/>
              <a:defRPr sz="2397"/>
            </a:lvl4pPr>
            <a:lvl5pPr marL="4382608" indent="0">
              <a:buNone/>
              <a:defRPr sz="2397"/>
            </a:lvl5pPr>
            <a:lvl6pPr marL="5478261" indent="0">
              <a:buNone/>
              <a:defRPr sz="2397"/>
            </a:lvl6pPr>
            <a:lvl7pPr marL="6573913" indent="0">
              <a:buNone/>
              <a:defRPr sz="2397"/>
            </a:lvl7pPr>
            <a:lvl8pPr marL="7669565" indent="0">
              <a:buNone/>
              <a:defRPr sz="2397"/>
            </a:lvl8pPr>
            <a:lvl9pPr marL="8765217" indent="0">
              <a:buNone/>
              <a:defRPr sz="2397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5112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432" y="1439970"/>
            <a:ext cx="7067787" cy="5039889"/>
          </a:xfrm>
        </p:spPr>
        <p:txBody>
          <a:bodyPr anchor="b"/>
          <a:lstStyle>
            <a:lvl1pPr>
              <a:defRPr sz="7669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16240" y="3109937"/>
            <a:ext cx="11093887" cy="15349662"/>
          </a:xfrm>
        </p:spPr>
        <p:txBody>
          <a:bodyPr anchor="t"/>
          <a:lstStyle>
            <a:lvl1pPr marL="0" indent="0">
              <a:buNone/>
              <a:defRPr sz="7669"/>
            </a:lvl1pPr>
            <a:lvl2pPr marL="1095653" indent="0">
              <a:buNone/>
              <a:defRPr sz="6710"/>
            </a:lvl2pPr>
            <a:lvl3pPr marL="2191304" indent="0">
              <a:buNone/>
              <a:defRPr sz="5752"/>
            </a:lvl3pPr>
            <a:lvl4pPr marL="3286956" indent="0">
              <a:buNone/>
              <a:defRPr sz="4793"/>
            </a:lvl4pPr>
            <a:lvl5pPr marL="4382608" indent="0">
              <a:buNone/>
              <a:defRPr sz="4793"/>
            </a:lvl5pPr>
            <a:lvl6pPr marL="5478261" indent="0">
              <a:buNone/>
              <a:defRPr sz="4793"/>
            </a:lvl6pPr>
            <a:lvl7pPr marL="6573913" indent="0">
              <a:buNone/>
              <a:defRPr sz="4793"/>
            </a:lvl7pPr>
            <a:lvl8pPr marL="7669565" indent="0">
              <a:buNone/>
              <a:defRPr sz="4793"/>
            </a:lvl8pPr>
            <a:lvl9pPr marL="8765217" indent="0">
              <a:buNone/>
              <a:defRPr sz="4793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09432" y="6479857"/>
            <a:ext cx="7067787" cy="12004738"/>
          </a:xfrm>
        </p:spPr>
        <p:txBody>
          <a:bodyPr/>
          <a:lstStyle>
            <a:lvl1pPr marL="0" indent="0">
              <a:buNone/>
              <a:defRPr sz="3834"/>
            </a:lvl1pPr>
            <a:lvl2pPr marL="1095653" indent="0">
              <a:buNone/>
              <a:defRPr sz="3355"/>
            </a:lvl2pPr>
            <a:lvl3pPr marL="2191304" indent="0">
              <a:buNone/>
              <a:defRPr sz="2876"/>
            </a:lvl3pPr>
            <a:lvl4pPr marL="3286956" indent="0">
              <a:buNone/>
              <a:defRPr sz="2397"/>
            </a:lvl4pPr>
            <a:lvl5pPr marL="4382608" indent="0">
              <a:buNone/>
              <a:defRPr sz="2397"/>
            </a:lvl5pPr>
            <a:lvl6pPr marL="5478261" indent="0">
              <a:buNone/>
              <a:defRPr sz="2397"/>
            </a:lvl6pPr>
            <a:lvl7pPr marL="6573913" indent="0">
              <a:buNone/>
              <a:defRPr sz="2397"/>
            </a:lvl7pPr>
            <a:lvl8pPr marL="7669565" indent="0">
              <a:buNone/>
              <a:defRPr sz="2397"/>
            </a:lvl8pPr>
            <a:lvl9pPr marL="8765217" indent="0">
              <a:buNone/>
              <a:defRPr sz="2397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56578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744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682100" y="1149975"/>
            <a:ext cx="4725174" cy="18304599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6579" y="1149975"/>
            <a:ext cx="13901599" cy="18304599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989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6577" y="1149979"/>
            <a:ext cx="18900696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6577" y="5749874"/>
            <a:ext cx="18900696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6577" y="20019566"/>
            <a:ext cx="4930616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85113-0A24-864F-A151-10CE0B4A1FAB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58964" y="20019566"/>
            <a:ext cx="7395924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76657" y="20019566"/>
            <a:ext cx="4930616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69BB0-9EEC-594D-BEF1-232A934FFD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305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91304" rtl="0" eaLnBrk="1" latinLnBrk="0" hangingPunct="1">
        <a:lnSpc>
          <a:spcPct val="90000"/>
        </a:lnSpc>
        <a:spcBef>
          <a:spcPct val="0"/>
        </a:spcBef>
        <a:buNone/>
        <a:defRPr sz="105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7826" indent="-547826" algn="l" defTabSz="2191304" rtl="0" eaLnBrk="1" latinLnBrk="0" hangingPunct="1">
        <a:lnSpc>
          <a:spcPct val="90000"/>
        </a:lnSpc>
        <a:spcBef>
          <a:spcPts val="2397"/>
        </a:spcBef>
        <a:buFont typeface="Arial" panose="020B0604020202020204" pitchFamily="34" charset="0"/>
        <a:buChar char="•"/>
        <a:defRPr sz="6710" kern="1200">
          <a:solidFill>
            <a:schemeClr val="tx1"/>
          </a:solidFill>
          <a:latin typeface="+mn-lt"/>
          <a:ea typeface="+mn-ea"/>
          <a:cs typeface="+mn-cs"/>
        </a:defRPr>
      </a:lvl1pPr>
      <a:lvl2pPr marL="1643479" indent="-547826" algn="l" defTabSz="2191304" rtl="0" eaLnBrk="1" latinLnBrk="0" hangingPunct="1">
        <a:lnSpc>
          <a:spcPct val="90000"/>
        </a:lnSpc>
        <a:spcBef>
          <a:spcPts val="1198"/>
        </a:spcBef>
        <a:buFont typeface="Arial" panose="020B0604020202020204" pitchFamily="34" charset="0"/>
        <a:buChar char="•"/>
        <a:defRPr sz="5752" kern="1200">
          <a:solidFill>
            <a:schemeClr val="tx1"/>
          </a:solidFill>
          <a:latin typeface="+mn-lt"/>
          <a:ea typeface="+mn-ea"/>
          <a:cs typeface="+mn-cs"/>
        </a:defRPr>
      </a:lvl2pPr>
      <a:lvl3pPr marL="2739131" indent="-547826" algn="l" defTabSz="2191304" rtl="0" eaLnBrk="1" latinLnBrk="0" hangingPunct="1">
        <a:lnSpc>
          <a:spcPct val="90000"/>
        </a:lnSpc>
        <a:spcBef>
          <a:spcPts val="1198"/>
        </a:spcBef>
        <a:buFont typeface="Arial" panose="020B0604020202020204" pitchFamily="34" charset="0"/>
        <a:buChar char="•"/>
        <a:defRPr sz="4793" kern="1200">
          <a:solidFill>
            <a:schemeClr val="tx1"/>
          </a:solidFill>
          <a:latin typeface="+mn-lt"/>
          <a:ea typeface="+mn-ea"/>
          <a:cs typeface="+mn-cs"/>
        </a:defRPr>
      </a:lvl3pPr>
      <a:lvl4pPr marL="3834782" indent="-547826" algn="l" defTabSz="2191304" rtl="0" eaLnBrk="1" latinLnBrk="0" hangingPunct="1">
        <a:lnSpc>
          <a:spcPct val="90000"/>
        </a:lnSpc>
        <a:spcBef>
          <a:spcPts val="1198"/>
        </a:spcBef>
        <a:buFont typeface="Arial" panose="020B0604020202020204" pitchFamily="34" charset="0"/>
        <a:buChar char="•"/>
        <a:defRPr sz="4314" kern="1200">
          <a:solidFill>
            <a:schemeClr val="tx1"/>
          </a:solidFill>
          <a:latin typeface="+mn-lt"/>
          <a:ea typeface="+mn-ea"/>
          <a:cs typeface="+mn-cs"/>
        </a:defRPr>
      </a:lvl4pPr>
      <a:lvl5pPr marL="4930435" indent="-547826" algn="l" defTabSz="2191304" rtl="0" eaLnBrk="1" latinLnBrk="0" hangingPunct="1">
        <a:lnSpc>
          <a:spcPct val="90000"/>
        </a:lnSpc>
        <a:spcBef>
          <a:spcPts val="1198"/>
        </a:spcBef>
        <a:buFont typeface="Arial" panose="020B0604020202020204" pitchFamily="34" charset="0"/>
        <a:buChar char="•"/>
        <a:defRPr sz="4314" kern="1200">
          <a:solidFill>
            <a:schemeClr val="tx1"/>
          </a:solidFill>
          <a:latin typeface="+mn-lt"/>
          <a:ea typeface="+mn-ea"/>
          <a:cs typeface="+mn-cs"/>
        </a:defRPr>
      </a:lvl5pPr>
      <a:lvl6pPr marL="6026087" indent="-547826" algn="l" defTabSz="2191304" rtl="0" eaLnBrk="1" latinLnBrk="0" hangingPunct="1">
        <a:lnSpc>
          <a:spcPct val="90000"/>
        </a:lnSpc>
        <a:spcBef>
          <a:spcPts val="1198"/>
        </a:spcBef>
        <a:buFont typeface="Arial" panose="020B0604020202020204" pitchFamily="34" charset="0"/>
        <a:buChar char="•"/>
        <a:defRPr sz="4314" kern="1200">
          <a:solidFill>
            <a:schemeClr val="tx1"/>
          </a:solidFill>
          <a:latin typeface="+mn-lt"/>
          <a:ea typeface="+mn-ea"/>
          <a:cs typeface="+mn-cs"/>
        </a:defRPr>
      </a:lvl6pPr>
      <a:lvl7pPr marL="7121739" indent="-547826" algn="l" defTabSz="2191304" rtl="0" eaLnBrk="1" latinLnBrk="0" hangingPunct="1">
        <a:lnSpc>
          <a:spcPct val="90000"/>
        </a:lnSpc>
        <a:spcBef>
          <a:spcPts val="1198"/>
        </a:spcBef>
        <a:buFont typeface="Arial" panose="020B0604020202020204" pitchFamily="34" charset="0"/>
        <a:buChar char="•"/>
        <a:defRPr sz="4314" kern="1200">
          <a:solidFill>
            <a:schemeClr val="tx1"/>
          </a:solidFill>
          <a:latin typeface="+mn-lt"/>
          <a:ea typeface="+mn-ea"/>
          <a:cs typeface="+mn-cs"/>
        </a:defRPr>
      </a:lvl7pPr>
      <a:lvl8pPr marL="8217392" indent="-547826" algn="l" defTabSz="2191304" rtl="0" eaLnBrk="1" latinLnBrk="0" hangingPunct="1">
        <a:lnSpc>
          <a:spcPct val="90000"/>
        </a:lnSpc>
        <a:spcBef>
          <a:spcPts val="1198"/>
        </a:spcBef>
        <a:buFont typeface="Arial" panose="020B0604020202020204" pitchFamily="34" charset="0"/>
        <a:buChar char="•"/>
        <a:defRPr sz="4314" kern="1200">
          <a:solidFill>
            <a:schemeClr val="tx1"/>
          </a:solidFill>
          <a:latin typeface="+mn-lt"/>
          <a:ea typeface="+mn-ea"/>
          <a:cs typeface="+mn-cs"/>
        </a:defRPr>
      </a:lvl8pPr>
      <a:lvl9pPr marL="9313043" indent="-547826" algn="l" defTabSz="2191304" rtl="0" eaLnBrk="1" latinLnBrk="0" hangingPunct="1">
        <a:lnSpc>
          <a:spcPct val="90000"/>
        </a:lnSpc>
        <a:spcBef>
          <a:spcPts val="1198"/>
        </a:spcBef>
        <a:buFont typeface="Arial" panose="020B0604020202020204" pitchFamily="34" charset="0"/>
        <a:buChar char="•"/>
        <a:defRPr sz="43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1304" rtl="0" eaLnBrk="1" latinLnBrk="0" hangingPunct="1">
        <a:defRPr sz="4314" kern="1200">
          <a:solidFill>
            <a:schemeClr val="tx1"/>
          </a:solidFill>
          <a:latin typeface="+mn-lt"/>
          <a:ea typeface="+mn-ea"/>
          <a:cs typeface="+mn-cs"/>
        </a:defRPr>
      </a:lvl1pPr>
      <a:lvl2pPr marL="1095653" algn="l" defTabSz="2191304" rtl="0" eaLnBrk="1" latinLnBrk="0" hangingPunct="1">
        <a:defRPr sz="4314" kern="1200">
          <a:solidFill>
            <a:schemeClr val="tx1"/>
          </a:solidFill>
          <a:latin typeface="+mn-lt"/>
          <a:ea typeface="+mn-ea"/>
          <a:cs typeface="+mn-cs"/>
        </a:defRPr>
      </a:lvl2pPr>
      <a:lvl3pPr marL="2191304" algn="l" defTabSz="2191304" rtl="0" eaLnBrk="1" latinLnBrk="0" hangingPunct="1">
        <a:defRPr sz="4314" kern="1200">
          <a:solidFill>
            <a:schemeClr val="tx1"/>
          </a:solidFill>
          <a:latin typeface="+mn-lt"/>
          <a:ea typeface="+mn-ea"/>
          <a:cs typeface="+mn-cs"/>
        </a:defRPr>
      </a:lvl3pPr>
      <a:lvl4pPr marL="3286956" algn="l" defTabSz="2191304" rtl="0" eaLnBrk="1" latinLnBrk="0" hangingPunct="1">
        <a:defRPr sz="4314" kern="1200">
          <a:solidFill>
            <a:schemeClr val="tx1"/>
          </a:solidFill>
          <a:latin typeface="+mn-lt"/>
          <a:ea typeface="+mn-ea"/>
          <a:cs typeface="+mn-cs"/>
        </a:defRPr>
      </a:lvl4pPr>
      <a:lvl5pPr marL="4382608" algn="l" defTabSz="2191304" rtl="0" eaLnBrk="1" latinLnBrk="0" hangingPunct="1">
        <a:defRPr sz="4314" kern="1200">
          <a:solidFill>
            <a:schemeClr val="tx1"/>
          </a:solidFill>
          <a:latin typeface="+mn-lt"/>
          <a:ea typeface="+mn-ea"/>
          <a:cs typeface="+mn-cs"/>
        </a:defRPr>
      </a:lvl5pPr>
      <a:lvl6pPr marL="5478261" algn="l" defTabSz="2191304" rtl="0" eaLnBrk="1" latinLnBrk="0" hangingPunct="1">
        <a:defRPr sz="4314" kern="1200">
          <a:solidFill>
            <a:schemeClr val="tx1"/>
          </a:solidFill>
          <a:latin typeface="+mn-lt"/>
          <a:ea typeface="+mn-ea"/>
          <a:cs typeface="+mn-cs"/>
        </a:defRPr>
      </a:lvl6pPr>
      <a:lvl7pPr marL="6573913" algn="l" defTabSz="2191304" rtl="0" eaLnBrk="1" latinLnBrk="0" hangingPunct="1">
        <a:defRPr sz="4314" kern="1200">
          <a:solidFill>
            <a:schemeClr val="tx1"/>
          </a:solidFill>
          <a:latin typeface="+mn-lt"/>
          <a:ea typeface="+mn-ea"/>
          <a:cs typeface="+mn-cs"/>
        </a:defRPr>
      </a:lvl7pPr>
      <a:lvl8pPr marL="7669565" algn="l" defTabSz="2191304" rtl="0" eaLnBrk="1" latinLnBrk="0" hangingPunct="1">
        <a:defRPr sz="4314" kern="1200">
          <a:solidFill>
            <a:schemeClr val="tx1"/>
          </a:solidFill>
          <a:latin typeface="+mn-lt"/>
          <a:ea typeface="+mn-ea"/>
          <a:cs typeface="+mn-cs"/>
        </a:defRPr>
      </a:lvl8pPr>
      <a:lvl9pPr marL="8765217" algn="l" defTabSz="2191304" rtl="0" eaLnBrk="1" latinLnBrk="0" hangingPunct="1">
        <a:defRPr sz="43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8AA003-0537-C30E-EC9C-DC054B97BC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20CD5A8-4960-BBA8-EE84-00977BCFF2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3228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CCC252-5712-A91D-5FC3-4CD697E6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1" name="Zástupný obsah 10" descr="Obsah obrázku diagram, řada/pruh, origami&#10;&#10;Obsah generovaný pomocí AI může být nesprávný.">
            <a:extLst>
              <a:ext uri="{FF2B5EF4-FFF2-40B4-BE49-F238E27FC236}">
                <a16:creationId xmlns:a16="http://schemas.microsoft.com/office/drawing/2014/main" id="{8AE9A417-F010-50B7-23B0-6C6BF6592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925185" y="9405523"/>
            <a:ext cx="27643340" cy="6973743"/>
          </a:xfrm>
        </p:spPr>
      </p:pic>
      <p:sp>
        <p:nvSpPr>
          <p:cNvPr id="12" name="TextovéPole 11">
            <a:extLst>
              <a:ext uri="{FF2B5EF4-FFF2-40B4-BE49-F238E27FC236}">
                <a16:creationId xmlns:a16="http://schemas.microsoft.com/office/drawing/2014/main" id="{5B972337-80B7-F974-559C-9ADF28C24916}"/>
              </a:ext>
            </a:extLst>
          </p:cNvPr>
          <p:cNvSpPr txBox="1"/>
          <p:nvPr/>
        </p:nvSpPr>
        <p:spPr>
          <a:xfrm>
            <a:off x="5952577" y="11323564"/>
            <a:ext cx="3943912" cy="87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096" b="1" dirty="0"/>
              <a:t>E(n)-GNN</a:t>
            </a: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2D0CBC95-D9AE-6207-14C7-C071333B87B3}"/>
              </a:ext>
            </a:extLst>
          </p:cNvPr>
          <p:cNvSpPr txBox="1"/>
          <p:nvPr/>
        </p:nvSpPr>
        <p:spPr>
          <a:xfrm>
            <a:off x="17352949" y="14096628"/>
            <a:ext cx="3943912" cy="87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096" b="1" dirty="0"/>
              <a:t>MLP </a:t>
            </a:r>
            <a:r>
              <a:rPr lang="cs-CZ" sz="5096" b="1" dirty="0" err="1"/>
              <a:t>Class</a:t>
            </a:r>
            <a:r>
              <a:rPr lang="cs-CZ" sz="5096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227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4" descr="Obsah obrázku diagram, text, snímek obrazovky, řada/pruh&#10;&#10;Obsah generovaný pomocí AI může být nesprávný.">
            <a:extLst>
              <a:ext uri="{FF2B5EF4-FFF2-40B4-BE49-F238E27FC236}">
                <a16:creationId xmlns:a16="http://schemas.microsoft.com/office/drawing/2014/main" id="{B77FA350-1C31-7459-A98F-125044E62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072266" y="3900459"/>
            <a:ext cx="30058375" cy="13798610"/>
          </a:xfrm>
        </p:spPr>
      </p:pic>
      <p:cxnSp>
        <p:nvCxnSpPr>
          <p:cNvPr id="9" name="Přímá spojnice 8">
            <a:extLst>
              <a:ext uri="{FF2B5EF4-FFF2-40B4-BE49-F238E27FC236}">
                <a16:creationId xmlns:a16="http://schemas.microsoft.com/office/drawing/2014/main" id="{EBAE11CA-EF7B-95D1-B331-93B59FD5C232}"/>
              </a:ext>
            </a:extLst>
          </p:cNvPr>
          <p:cNvCxnSpPr>
            <a:cxnSpLocks/>
          </p:cNvCxnSpPr>
          <p:nvPr/>
        </p:nvCxnSpPr>
        <p:spPr>
          <a:xfrm>
            <a:off x="3635370" y="15399050"/>
            <a:ext cx="111921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ovéPole 5">
            <a:extLst>
              <a:ext uri="{FF2B5EF4-FFF2-40B4-BE49-F238E27FC236}">
                <a16:creationId xmlns:a16="http://schemas.microsoft.com/office/drawing/2014/main" id="{B43FB346-1ACE-2813-477A-FBF83181991C}"/>
              </a:ext>
            </a:extLst>
          </p:cNvPr>
          <p:cNvSpPr txBox="1"/>
          <p:nvPr/>
        </p:nvSpPr>
        <p:spPr>
          <a:xfrm>
            <a:off x="9599187" y="16198905"/>
            <a:ext cx="2715482" cy="87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096" dirty="0"/>
              <a:t>(1,256)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ovéPole 6">
                <a:extLst>
                  <a:ext uri="{FF2B5EF4-FFF2-40B4-BE49-F238E27FC236}">
                    <a16:creationId xmlns:a16="http://schemas.microsoft.com/office/drawing/2014/main" id="{47ECEC0D-5736-B07A-0854-E1F6FC1B649A}"/>
                  </a:ext>
                </a:extLst>
              </p:cNvPr>
              <p:cNvSpPr txBox="1"/>
              <p:nvPr/>
            </p:nvSpPr>
            <p:spPr>
              <a:xfrm>
                <a:off x="15002436" y="7389645"/>
                <a:ext cx="3182778" cy="1892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cs-CZ" sz="5096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cs-CZ" sz="5096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5096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sSup>
                                <m:sSupPr>
                                  <m:ctrlPr>
                                    <a:rPr lang="en-US" sz="5096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5096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5096" i="1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cs-CZ" sz="5096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s-CZ" sz="5096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√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5096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5096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5096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cs-CZ" sz="5096" dirty="0"/>
              </a:p>
            </p:txBody>
          </p:sp>
        </mc:Choice>
        <mc:Fallback>
          <p:sp>
            <p:nvSpPr>
              <p:cNvPr id="7" name="TextovéPole 6">
                <a:extLst>
                  <a:ext uri="{FF2B5EF4-FFF2-40B4-BE49-F238E27FC236}">
                    <a16:creationId xmlns:a16="http://schemas.microsoft.com/office/drawing/2014/main" id="{47ECEC0D-5736-B07A-0854-E1F6FC1B6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2436" y="7389645"/>
                <a:ext cx="3182778" cy="1892569"/>
              </a:xfrm>
              <a:prstGeom prst="rect">
                <a:avLst/>
              </a:prstGeom>
              <a:blipFill>
                <a:blip r:embed="rId3"/>
                <a:stretch>
                  <a:fillRect b="-7285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Přímá spojnice 14">
            <a:extLst>
              <a:ext uri="{FF2B5EF4-FFF2-40B4-BE49-F238E27FC236}">
                <a16:creationId xmlns:a16="http://schemas.microsoft.com/office/drawing/2014/main" id="{BEAB554E-B934-CE72-EBF6-41E551DBE65D}"/>
              </a:ext>
            </a:extLst>
          </p:cNvPr>
          <p:cNvCxnSpPr>
            <a:cxnSpLocks/>
          </p:cNvCxnSpPr>
          <p:nvPr/>
        </p:nvCxnSpPr>
        <p:spPr>
          <a:xfrm>
            <a:off x="7669223" y="15445682"/>
            <a:ext cx="19299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Přímá spojovací šipka 20">
            <a:extLst>
              <a:ext uri="{FF2B5EF4-FFF2-40B4-BE49-F238E27FC236}">
                <a16:creationId xmlns:a16="http://schemas.microsoft.com/office/drawing/2014/main" id="{A372C81D-8864-E093-8B01-80BF09277A8B}"/>
              </a:ext>
            </a:extLst>
          </p:cNvPr>
          <p:cNvCxnSpPr/>
          <p:nvPr/>
        </p:nvCxnSpPr>
        <p:spPr>
          <a:xfrm flipV="1">
            <a:off x="12314666" y="10502476"/>
            <a:ext cx="4279157" cy="489657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08C75DF0-827E-EBD4-90A7-FBCA88FCC703}"/>
              </a:ext>
            </a:extLst>
          </p:cNvPr>
          <p:cNvSpPr txBox="1"/>
          <p:nvPr/>
        </p:nvSpPr>
        <p:spPr>
          <a:xfrm rot="16200000">
            <a:off x="2341871" y="6286846"/>
            <a:ext cx="8673945" cy="87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096" dirty="0"/>
              <a:t>MKASLESEFKD……</a:t>
            </a:r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0458760B-973C-1D60-5171-F58C88F7BB61}"/>
              </a:ext>
            </a:extLst>
          </p:cNvPr>
          <p:cNvSpPr txBox="1"/>
          <p:nvPr/>
        </p:nvSpPr>
        <p:spPr>
          <a:xfrm rot="16200000">
            <a:off x="2341871" y="6951380"/>
            <a:ext cx="8673945" cy="87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096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559238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Přímá spojovací šipka 76">
            <a:extLst>
              <a:ext uri="{FF2B5EF4-FFF2-40B4-BE49-F238E27FC236}">
                <a16:creationId xmlns:a16="http://schemas.microsoft.com/office/drawing/2014/main" id="{FC77106B-4851-D465-0319-C70CD3A086E3}"/>
              </a:ext>
            </a:extLst>
          </p:cNvPr>
          <p:cNvCxnSpPr>
            <a:cxnSpLocks/>
          </p:cNvCxnSpPr>
          <p:nvPr/>
        </p:nvCxnSpPr>
        <p:spPr>
          <a:xfrm>
            <a:off x="3250763" y="8039382"/>
            <a:ext cx="231112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Obrázek 35" descr="Obsah obrázku umění, Grafika&#10;&#10;Obsah generovaný pomocí AI může být nesprávný.">
            <a:extLst>
              <a:ext uri="{FF2B5EF4-FFF2-40B4-BE49-F238E27FC236}">
                <a16:creationId xmlns:a16="http://schemas.microsoft.com/office/drawing/2014/main" id="{083202CA-AF2A-8211-ED60-68A7EC5D4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941"/>
          <a:stretch>
            <a:fillRect/>
          </a:stretch>
        </p:blipFill>
        <p:spPr>
          <a:xfrm>
            <a:off x="0" y="669469"/>
            <a:ext cx="4940936" cy="5814459"/>
          </a:xfrm>
          <a:prstGeom prst="rect">
            <a:avLst/>
          </a:prstGeom>
        </p:spPr>
      </p:pic>
      <p:pic>
        <p:nvPicPr>
          <p:cNvPr id="38" name="Obrázek 37" descr="Obsah obrázku kreslené, kresba, klipart, umění&#10;&#10;Obsah generovaný pomocí AI může být nesprávný.">
            <a:extLst>
              <a:ext uri="{FF2B5EF4-FFF2-40B4-BE49-F238E27FC236}">
                <a16:creationId xmlns:a16="http://schemas.microsoft.com/office/drawing/2014/main" id="{99A49C25-7D50-A56E-4EC4-A82E89EA20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403" b="36867"/>
          <a:stretch>
            <a:fillRect/>
          </a:stretch>
        </p:blipFill>
        <p:spPr>
          <a:xfrm>
            <a:off x="5027586" y="828063"/>
            <a:ext cx="4682035" cy="5814459"/>
          </a:xfrm>
          <a:prstGeom prst="rect">
            <a:avLst/>
          </a:prstGeom>
        </p:spPr>
      </p:pic>
      <p:grpSp>
        <p:nvGrpSpPr>
          <p:cNvPr id="46" name="Skupina 45">
            <a:extLst>
              <a:ext uri="{FF2B5EF4-FFF2-40B4-BE49-F238E27FC236}">
                <a16:creationId xmlns:a16="http://schemas.microsoft.com/office/drawing/2014/main" id="{3507CBD2-2BC0-9E8F-822C-57C438073554}"/>
              </a:ext>
            </a:extLst>
          </p:cNvPr>
          <p:cNvGrpSpPr/>
          <p:nvPr/>
        </p:nvGrpSpPr>
        <p:grpSpPr>
          <a:xfrm>
            <a:off x="13804209" y="3341414"/>
            <a:ext cx="6901200" cy="1213200"/>
            <a:chOff x="12110223" y="6110869"/>
            <a:chExt cx="6901200" cy="1213200"/>
          </a:xfrm>
        </p:grpSpPr>
        <p:sp>
          <p:nvSpPr>
            <p:cNvPr id="41" name="Zaoblený obdélník 40">
              <a:extLst>
                <a:ext uri="{FF2B5EF4-FFF2-40B4-BE49-F238E27FC236}">
                  <a16:creationId xmlns:a16="http://schemas.microsoft.com/office/drawing/2014/main" id="{5745C7D1-66C1-29C9-9004-425EA5A8F3AE}"/>
                </a:ext>
              </a:extLst>
            </p:cNvPr>
            <p:cNvSpPr>
              <a:spLocks/>
            </p:cNvSpPr>
            <p:nvPr/>
          </p:nvSpPr>
          <p:spPr>
            <a:xfrm>
              <a:off x="12110223" y="6110869"/>
              <a:ext cx="6444000" cy="756000"/>
            </a:xfrm>
            <a:prstGeom prst="roundRect">
              <a:avLst/>
            </a:prstGeom>
            <a:solidFill>
              <a:srgbClr val="D4C93B"/>
            </a:solidFill>
            <a:ln>
              <a:solidFill>
                <a:srgbClr val="D4C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2" name="Zaoblený obdélník 41">
              <a:extLst>
                <a:ext uri="{FF2B5EF4-FFF2-40B4-BE49-F238E27FC236}">
                  <a16:creationId xmlns:a16="http://schemas.microsoft.com/office/drawing/2014/main" id="{EDB2A282-AEDF-A83D-4383-9B316E7BB646}"/>
                </a:ext>
              </a:extLst>
            </p:cNvPr>
            <p:cNvSpPr>
              <a:spLocks/>
            </p:cNvSpPr>
            <p:nvPr/>
          </p:nvSpPr>
          <p:spPr>
            <a:xfrm>
              <a:off x="12262623" y="6263269"/>
              <a:ext cx="6444000" cy="756000"/>
            </a:xfrm>
            <a:prstGeom prst="roundRect">
              <a:avLst/>
            </a:prstGeom>
            <a:solidFill>
              <a:srgbClr val="5D0000"/>
            </a:solidFill>
            <a:ln>
              <a:solidFill>
                <a:srgbClr val="5D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3" name="Zaoblený obdélník 42">
              <a:extLst>
                <a:ext uri="{FF2B5EF4-FFF2-40B4-BE49-F238E27FC236}">
                  <a16:creationId xmlns:a16="http://schemas.microsoft.com/office/drawing/2014/main" id="{8E13CDE8-7A72-2AF0-5CD1-B4F595BC6B5A}"/>
                </a:ext>
              </a:extLst>
            </p:cNvPr>
            <p:cNvSpPr>
              <a:spLocks/>
            </p:cNvSpPr>
            <p:nvPr/>
          </p:nvSpPr>
          <p:spPr>
            <a:xfrm>
              <a:off x="12415023" y="6415669"/>
              <a:ext cx="6444000" cy="756000"/>
            </a:xfrm>
            <a:prstGeom prst="roundRect">
              <a:avLst/>
            </a:prstGeom>
            <a:solidFill>
              <a:srgbClr val="674600"/>
            </a:solidFill>
            <a:ln>
              <a:solidFill>
                <a:srgbClr val="674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44" name="Zaoblený obdélník 43">
              <a:extLst>
                <a:ext uri="{FF2B5EF4-FFF2-40B4-BE49-F238E27FC236}">
                  <a16:creationId xmlns:a16="http://schemas.microsoft.com/office/drawing/2014/main" id="{F61FCD3B-70A9-E24F-1DC6-622D53148CEA}"/>
                </a:ext>
              </a:extLst>
            </p:cNvPr>
            <p:cNvSpPr>
              <a:spLocks/>
            </p:cNvSpPr>
            <p:nvPr/>
          </p:nvSpPr>
          <p:spPr>
            <a:xfrm>
              <a:off x="12567423" y="6568069"/>
              <a:ext cx="6444000" cy="756000"/>
            </a:xfrm>
            <a:prstGeom prst="roundRect">
              <a:avLst/>
            </a:prstGeom>
            <a:solidFill>
              <a:srgbClr val="4DA1D1"/>
            </a:solidFill>
            <a:ln>
              <a:solidFill>
                <a:srgbClr val="4DA1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47" name="TextovéPole 46">
            <a:extLst>
              <a:ext uri="{FF2B5EF4-FFF2-40B4-BE49-F238E27FC236}">
                <a16:creationId xmlns:a16="http://schemas.microsoft.com/office/drawing/2014/main" id="{DAAB66D6-1029-5157-456E-2CA0FD89B6AB}"/>
              </a:ext>
            </a:extLst>
          </p:cNvPr>
          <p:cNvSpPr txBox="1"/>
          <p:nvPr/>
        </p:nvSpPr>
        <p:spPr>
          <a:xfrm>
            <a:off x="15491324" y="4554615"/>
            <a:ext cx="3526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b="1" dirty="0" err="1"/>
              <a:t>Pocket</a:t>
            </a:r>
            <a:r>
              <a:rPr lang="cs-CZ" sz="2800" b="1" dirty="0"/>
              <a:t> </a:t>
            </a:r>
            <a:r>
              <a:rPr lang="cs-CZ" sz="2800" b="1" dirty="0" err="1"/>
              <a:t>Embeddings</a:t>
            </a:r>
            <a:endParaRPr lang="cs-CZ" sz="2800" b="1" dirty="0"/>
          </a:p>
          <a:p>
            <a:pPr algn="ctr"/>
            <a:r>
              <a:rPr lang="cs-CZ" sz="2800" b="1" dirty="0"/>
              <a:t>[N,1280]</a:t>
            </a:r>
          </a:p>
        </p:txBody>
      </p:sp>
      <p:cxnSp>
        <p:nvCxnSpPr>
          <p:cNvPr id="49" name="Přímá spojovací šipka 48">
            <a:extLst>
              <a:ext uri="{FF2B5EF4-FFF2-40B4-BE49-F238E27FC236}">
                <a16:creationId xmlns:a16="http://schemas.microsoft.com/office/drawing/2014/main" id="{9AAD7E2F-DCE1-6783-31DF-93751CBE0C12}"/>
              </a:ext>
            </a:extLst>
          </p:cNvPr>
          <p:cNvCxnSpPr/>
          <p:nvPr/>
        </p:nvCxnSpPr>
        <p:spPr>
          <a:xfrm>
            <a:off x="9927772" y="3795614"/>
            <a:ext cx="26343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Přímá spojovací šipka 49">
            <a:extLst>
              <a:ext uri="{FF2B5EF4-FFF2-40B4-BE49-F238E27FC236}">
                <a16:creationId xmlns:a16="http://schemas.microsoft.com/office/drawing/2014/main" id="{D0A48253-F586-1FB6-7065-C5475DE647A1}"/>
              </a:ext>
            </a:extLst>
          </p:cNvPr>
          <p:cNvCxnSpPr/>
          <p:nvPr/>
        </p:nvCxnSpPr>
        <p:spPr>
          <a:xfrm>
            <a:off x="10080171" y="3948014"/>
            <a:ext cx="26343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Přímá spojovací šipka 50">
            <a:extLst>
              <a:ext uri="{FF2B5EF4-FFF2-40B4-BE49-F238E27FC236}">
                <a16:creationId xmlns:a16="http://schemas.microsoft.com/office/drawing/2014/main" id="{CF4DABD6-BA17-EE68-AE35-ACD5F14411AA}"/>
              </a:ext>
            </a:extLst>
          </p:cNvPr>
          <p:cNvCxnSpPr/>
          <p:nvPr/>
        </p:nvCxnSpPr>
        <p:spPr>
          <a:xfrm>
            <a:off x="10232571" y="4100414"/>
            <a:ext cx="26343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ovéPole 51">
            <a:extLst>
              <a:ext uri="{FF2B5EF4-FFF2-40B4-BE49-F238E27FC236}">
                <a16:creationId xmlns:a16="http://schemas.microsoft.com/office/drawing/2014/main" id="{8C05CCF8-E2A3-5890-3CAE-E36644CD1E7B}"/>
              </a:ext>
            </a:extLst>
          </p:cNvPr>
          <p:cNvSpPr txBox="1"/>
          <p:nvPr/>
        </p:nvSpPr>
        <p:spPr>
          <a:xfrm>
            <a:off x="10227689" y="4220553"/>
            <a:ext cx="304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err="1"/>
              <a:t>Pocket</a:t>
            </a:r>
            <a:r>
              <a:rPr lang="cs-CZ" b="1" dirty="0"/>
              <a:t> </a:t>
            </a:r>
            <a:r>
              <a:rPr lang="cs-CZ" b="1" dirty="0" err="1"/>
              <a:t>extraction</a:t>
            </a:r>
            <a:endParaRPr lang="cs-CZ" b="1" dirty="0"/>
          </a:p>
          <a:p>
            <a:r>
              <a:rPr lang="cs-CZ" b="1" dirty="0" err="1"/>
              <a:t>Embedding</a:t>
            </a:r>
            <a:r>
              <a:rPr lang="cs-CZ" b="1" dirty="0"/>
              <a:t> </a:t>
            </a:r>
            <a:r>
              <a:rPr lang="cs-CZ" b="1" dirty="0" err="1"/>
              <a:t>extraction</a:t>
            </a:r>
            <a:r>
              <a:rPr lang="cs-CZ" b="1" dirty="0"/>
              <a:t> and </a:t>
            </a:r>
            <a:r>
              <a:rPr lang="cs-CZ" b="1" dirty="0" err="1"/>
              <a:t>mean</a:t>
            </a:r>
            <a:r>
              <a:rPr lang="cs-CZ" b="1" dirty="0"/>
              <a:t> </a:t>
            </a:r>
            <a:r>
              <a:rPr lang="cs-CZ" b="1" dirty="0" err="1"/>
              <a:t>pooling</a:t>
            </a:r>
            <a:endParaRPr lang="cs-CZ" b="1" dirty="0"/>
          </a:p>
        </p:txBody>
      </p:sp>
      <p:cxnSp>
        <p:nvCxnSpPr>
          <p:cNvPr id="53" name="Přímá spojovací šipka 52">
            <a:extLst>
              <a:ext uri="{FF2B5EF4-FFF2-40B4-BE49-F238E27FC236}">
                <a16:creationId xmlns:a16="http://schemas.microsoft.com/office/drawing/2014/main" id="{9AB1B154-4250-303D-1327-3320C02AA809}"/>
              </a:ext>
            </a:extLst>
          </p:cNvPr>
          <p:cNvCxnSpPr/>
          <p:nvPr/>
        </p:nvCxnSpPr>
        <p:spPr>
          <a:xfrm>
            <a:off x="3374571" y="4085038"/>
            <a:ext cx="26343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ovéPole 53">
            <a:extLst>
              <a:ext uri="{FF2B5EF4-FFF2-40B4-BE49-F238E27FC236}">
                <a16:creationId xmlns:a16="http://schemas.microsoft.com/office/drawing/2014/main" id="{8D89CD34-9AD6-2DB1-9C3A-5E718A65AE99}"/>
              </a:ext>
            </a:extLst>
          </p:cNvPr>
          <p:cNvSpPr txBox="1"/>
          <p:nvPr/>
        </p:nvSpPr>
        <p:spPr>
          <a:xfrm>
            <a:off x="3427821" y="4108337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/>
              <a:t>P2rank </a:t>
            </a:r>
            <a:r>
              <a:rPr lang="cs-CZ" sz="2000" b="1" dirty="0" err="1"/>
              <a:t>Pocket</a:t>
            </a:r>
            <a:r>
              <a:rPr lang="cs-CZ" sz="2000" b="1" dirty="0"/>
              <a:t> </a:t>
            </a:r>
            <a:r>
              <a:rPr lang="cs-CZ" sz="2000" b="1" dirty="0" err="1"/>
              <a:t>Pred</a:t>
            </a:r>
            <a:r>
              <a:rPr lang="cs-CZ" sz="2000" b="1" dirty="0"/>
              <a:t>.</a:t>
            </a:r>
          </a:p>
        </p:txBody>
      </p:sp>
      <p:cxnSp>
        <p:nvCxnSpPr>
          <p:cNvPr id="67" name="Přímá spojnice 66">
            <a:extLst>
              <a:ext uri="{FF2B5EF4-FFF2-40B4-BE49-F238E27FC236}">
                <a16:creationId xmlns:a16="http://schemas.microsoft.com/office/drawing/2014/main" id="{50656583-5367-D8C5-9CBE-5781DB0F5EF0}"/>
              </a:ext>
            </a:extLst>
          </p:cNvPr>
          <p:cNvCxnSpPr/>
          <p:nvPr/>
        </p:nvCxnSpPr>
        <p:spPr>
          <a:xfrm>
            <a:off x="-1248644" y="6642522"/>
            <a:ext cx="237328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ovéPole 67">
            <a:extLst>
              <a:ext uri="{FF2B5EF4-FFF2-40B4-BE49-F238E27FC236}">
                <a16:creationId xmlns:a16="http://schemas.microsoft.com/office/drawing/2014/main" id="{27CAD13B-9199-8354-2330-7FEA8A7416F7}"/>
              </a:ext>
            </a:extLst>
          </p:cNvPr>
          <p:cNvSpPr txBox="1"/>
          <p:nvPr/>
        </p:nvSpPr>
        <p:spPr>
          <a:xfrm>
            <a:off x="111220" y="7228431"/>
            <a:ext cx="2442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A. </a:t>
            </a:r>
            <a:r>
              <a:rPr lang="cs-CZ" sz="2400" b="1" dirty="0" err="1"/>
              <a:t>Pocket</a:t>
            </a:r>
            <a:r>
              <a:rPr lang="cs-CZ" sz="2400" b="1" dirty="0"/>
              <a:t> </a:t>
            </a:r>
            <a:r>
              <a:rPr lang="cs-CZ" sz="2400" b="1" dirty="0" err="1"/>
              <a:t>Only</a:t>
            </a:r>
            <a:endParaRPr lang="cs-CZ" sz="2400" b="1" dirty="0"/>
          </a:p>
        </p:txBody>
      </p:sp>
      <p:grpSp>
        <p:nvGrpSpPr>
          <p:cNvPr id="69" name="Skupina 68">
            <a:extLst>
              <a:ext uri="{FF2B5EF4-FFF2-40B4-BE49-F238E27FC236}">
                <a16:creationId xmlns:a16="http://schemas.microsoft.com/office/drawing/2014/main" id="{083B8585-2760-4774-2D9A-1614AF46D3FD}"/>
              </a:ext>
            </a:extLst>
          </p:cNvPr>
          <p:cNvGrpSpPr/>
          <p:nvPr/>
        </p:nvGrpSpPr>
        <p:grpSpPr>
          <a:xfrm>
            <a:off x="111221" y="7750152"/>
            <a:ext cx="2606031" cy="513907"/>
            <a:chOff x="12110223" y="6110869"/>
            <a:chExt cx="6901200" cy="1213200"/>
          </a:xfrm>
        </p:grpSpPr>
        <p:sp>
          <p:nvSpPr>
            <p:cNvPr id="70" name="Zaoblený obdélník 69">
              <a:extLst>
                <a:ext uri="{FF2B5EF4-FFF2-40B4-BE49-F238E27FC236}">
                  <a16:creationId xmlns:a16="http://schemas.microsoft.com/office/drawing/2014/main" id="{8924BCAC-E24D-B750-CC61-7188FC61863F}"/>
                </a:ext>
              </a:extLst>
            </p:cNvPr>
            <p:cNvSpPr>
              <a:spLocks/>
            </p:cNvSpPr>
            <p:nvPr/>
          </p:nvSpPr>
          <p:spPr>
            <a:xfrm>
              <a:off x="12110223" y="6110869"/>
              <a:ext cx="6444000" cy="756000"/>
            </a:xfrm>
            <a:prstGeom prst="roundRect">
              <a:avLst/>
            </a:prstGeom>
            <a:solidFill>
              <a:srgbClr val="D4C93B"/>
            </a:solidFill>
            <a:ln>
              <a:solidFill>
                <a:srgbClr val="D4C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1" name="Zaoblený obdélník 70">
              <a:extLst>
                <a:ext uri="{FF2B5EF4-FFF2-40B4-BE49-F238E27FC236}">
                  <a16:creationId xmlns:a16="http://schemas.microsoft.com/office/drawing/2014/main" id="{375A6184-7129-CAAA-B651-4AEB308F6F23}"/>
                </a:ext>
              </a:extLst>
            </p:cNvPr>
            <p:cNvSpPr>
              <a:spLocks/>
            </p:cNvSpPr>
            <p:nvPr/>
          </p:nvSpPr>
          <p:spPr>
            <a:xfrm>
              <a:off x="12262623" y="6263269"/>
              <a:ext cx="6444000" cy="756000"/>
            </a:xfrm>
            <a:prstGeom prst="roundRect">
              <a:avLst/>
            </a:prstGeom>
            <a:solidFill>
              <a:srgbClr val="5D0000"/>
            </a:solidFill>
            <a:ln>
              <a:solidFill>
                <a:srgbClr val="5D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2" name="Zaoblený obdélník 71">
              <a:extLst>
                <a:ext uri="{FF2B5EF4-FFF2-40B4-BE49-F238E27FC236}">
                  <a16:creationId xmlns:a16="http://schemas.microsoft.com/office/drawing/2014/main" id="{04EAA101-2E22-8B1E-768B-5A339207D667}"/>
                </a:ext>
              </a:extLst>
            </p:cNvPr>
            <p:cNvSpPr>
              <a:spLocks/>
            </p:cNvSpPr>
            <p:nvPr/>
          </p:nvSpPr>
          <p:spPr>
            <a:xfrm>
              <a:off x="12415023" y="6415669"/>
              <a:ext cx="6444000" cy="756000"/>
            </a:xfrm>
            <a:prstGeom prst="roundRect">
              <a:avLst/>
            </a:prstGeom>
            <a:solidFill>
              <a:srgbClr val="674600"/>
            </a:solidFill>
            <a:ln>
              <a:solidFill>
                <a:srgbClr val="674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73" name="Zaoblený obdélník 72">
              <a:extLst>
                <a:ext uri="{FF2B5EF4-FFF2-40B4-BE49-F238E27FC236}">
                  <a16:creationId xmlns:a16="http://schemas.microsoft.com/office/drawing/2014/main" id="{E66B79B8-AEB3-75CD-6948-7E4E49AA3D3B}"/>
                </a:ext>
              </a:extLst>
            </p:cNvPr>
            <p:cNvSpPr>
              <a:spLocks/>
            </p:cNvSpPr>
            <p:nvPr/>
          </p:nvSpPr>
          <p:spPr>
            <a:xfrm>
              <a:off x="12567423" y="6568069"/>
              <a:ext cx="6444000" cy="756000"/>
            </a:xfrm>
            <a:prstGeom prst="roundRect">
              <a:avLst/>
            </a:prstGeom>
            <a:solidFill>
              <a:srgbClr val="4DA1D1"/>
            </a:solidFill>
            <a:ln>
              <a:solidFill>
                <a:srgbClr val="4DA1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pic>
        <p:nvPicPr>
          <p:cNvPr id="75" name="Obrázek 74" descr="Obsah obrázku kruh, Barevnost, světlo, noc&#10;&#10;Obsah generovaný pomocí AI může být nesprávný.">
            <a:extLst>
              <a:ext uri="{FF2B5EF4-FFF2-40B4-BE49-F238E27FC236}">
                <a16:creationId xmlns:a16="http://schemas.microsoft.com/office/drawing/2014/main" id="{847ECF77-8C33-2FA8-F805-6358EE296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971" y="6838144"/>
            <a:ext cx="1169160" cy="11691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ovéPole 83">
                <a:extLst>
                  <a:ext uri="{FF2B5EF4-FFF2-40B4-BE49-F238E27FC236}">
                    <a16:creationId xmlns:a16="http://schemas.microsoft.com/office/drawing/2014/main" id="{535F3B75-9117-8730-6D94-9B2461A608B3}"/>
                  </a:ext>
                </a:extLst>
              </p:cNvPr>
              <p:cNvSpPr txBox="1"/>
              <p:nvPr/>
            </p:nvSpPr>
            <p:spPr>
              <a:xfrm>
                <a:off x="3324314" y="8100003"/>
                <a:ext cx="3048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sz="2400" b="1" dirty="0" err="1"/>
                  <a:t>Pocket</a:t>
                </a:r>
                <a:r>
                  <a:rPr lang="cs-CZ" sz="2400" b="1" dirty="0"/>
                  <a:t> </a:t>
                </a:r>
                <a:r>
                  <a:rPr lang="cs-CZ" sz="2400" b="1" dirty="0" err="1"/>
                  <a:t>weight</a:t>
                </a:r>
                <a:r>
                  <a:rPr lang="cs-CZ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cs-CZ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cs-CZ" sz="2400" b="1" dirty="0"/>
              </a:p>
            </p:txBody>
          </p:sp>
        </mc:Choice>
        <mc:Fallback>
          <p:sp>
            <p:nvSpPr>
              <p:cNvPr id="84" name="TextovéPole 83">
                <a:extLst>
                  <a:ext uri="{FF2B5EF4-FFF2-40B4-BE49-F238E27FC236}">
                    <a16:creationId xmlns:a16="http://schemas.microsoft.com/office/drawing/2014/main" id="{535F3B75-9117-8730-6D94-9B2461A60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314" y="8100003"/>
                <a:ext cx="3048000" cy="461665"/>
              </a:xfrm>
              <a:prstGeom prst="rect">
                <a:avLst/>
              </a:prstGeom>
              <a:blipFill>
                <a:blip r:embed="rId5"/>
                <a:stretch>
                  <a:fillRect l="-2905" t="-8108" b="-29730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ovéPole 84">
                <a:extLst>
                  <a:ext uri="{FF2B5EF4-FFF2-40B4-BE49-F238E27FC236}">
                    <a16:creationId xmlns:a16="http://schemas.microsoft.com/office/drawing/2014/main" id="{74F08E74-AD9C-D06A-C238-755B2ACF3CFE}"/>
                  </a:ext>
                </a:extLst>
              </p:cNvPr>
              <p:cNvSpPr txBox="1"/>
              <p:nvPr/>
            </p:nvSpPr>
            <p:spPr>
              <a:xfrm>
                <a:off x="5604282" y="7642267"/>
                <a:ext cx="2071755" cy="784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s-CZ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𝒑𝒓𝒐𝒕𝒆𝒊𝒏</m:t>
                          </m:r>
                        </m:sub>
                      </m:sSub>
                      <m:r>
                        <a:rPr lang="cs-CZ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cs-CZ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cs-CZ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b>
                            <m:sSubPr>
                              <m:ctrlPr>
                                <a:rPr lang="cs-CZ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cs-CZ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cs-CZ" b="1" dirty="0"/>
              </a:p>
            </p:txBody>
          </p:sp>
        </mc:Choice>
        <mc:Fallback>
          <p:sp>
            <p:nvSpPr>
              <p:cNvPr id="85" name="TextovéPole 84">
                <a:extLst>
                  <a:ext uri="{FF2B5EF4-FFF2-40B4-BE49-F238E27FC236}">
                    <a16:creationId xmlns:a16="http://schemas.microsoft.com/office/drawing/2014/main" id="{74F08E74-AD9C-D06A-C238-755B2ACF3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282" y="7642267"/>
                <a:ext cx="2071755" cy="784317"/>
              </a:xfrm>
              <a:prstGeom prst="rect">
                <a:avLst/>
              </a:prstGeom>
              <a:blipFill>
                <a:blip r:embed="rId6"/>
                <a:stretch>
                  <a:fillRect t="-109524" b="-16984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Přímá spojovací šipka 85">
            <a:extLst>
              <a:ext uri="{FF2B5EF4-FFF2-40B4-BE49-F238E27FC236}">
                <a16:creationId xmlns:a16="http://schemas.microsoft.com/office/drawing/2014/main" id="{4A4BC2D3-12B8-23BD-696B-E7C397F598F3}"/>
              </a:ext>
            </a:extLst>
          </p:cNvPr>
          <p:cNvCxnSpPr>
            <a:cxnSpLocks/>
          </p:cNvCxnSpPr>
          <p:nvPr/>
        </p:nvCxnSpPr>
        <p:spPr>
          <a:xfrm>
            <a:off x="7622489" y="8126356"/>
            <a:ext cx="299528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TextovéPole 87">
            <a:extLst>
              <a:ext uri="{FF2B5EF4-FFF2-40B4-BE49-F238E27FC236}">
                <a16:creationId xmlns:a16="http://schemas.microsoft.com/office/drawing/2014/main" id="{EBF80AEB-0EB2-B8B7-E8DF-29E8CE1A5A60}"/>
              </a:ext>
            </a:extLst>
          </p:cNvPr>
          <p:cNvSpPr txBox="1"/>
          <p:nvPr/>
        </p:nvSpPr>
        <p:spPr>
          <a:xfrm>
            <a:off x="7908926" y="8100003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MLP </a:t>
            </a:r>
            <a:r>
              <a:rPr lang="cs-CZ" sz="2400" b="1" dirty="0" err="1"/>
              <a:t>Classifier</a:t>
            </a:r>
            <a:endParaRPr lang="cs-CZ" sz="2400" b="1" dirty="0"/>
          </a:p>
        </p:txBody>
      </p:sp>
      <p:sp>
        <p:nvSpPr>
          <p:cNvPr id="89" name="TextovéPole 88">
            <a:extLst>
              <a:ext uri="{FF2B5EF4-FFF2-40B4-BE49-F238E27FC236}">
                <a16:creationId xmlns:a16="http://schemas.microsoft.com/office/drawing/2014/main" id="{E9990E35-91DB-443E-42D2-3A2DE0350658}"/>
              </a:ext>
            </a:extLst>
          </p:cNvPr>
          <p:cNvSpPr txBox="1"/>
          <p:nvPr/>
        </p:nvSpPr>
        <p:spPr>
          <a:xfrm>
            <a:off x="10672722" y="7928793"/>
            <a:ext cx="264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err="1"/>
              <a:t>Logits</a:t>
            </a:r>
            <a:endParaRPr lang="cs-CZ" b="1" dirty="0"/>
          </a:p>
        </p:txBody>
      </p:sp>
      <p:sp>
        <p:nvSpPr>
          <p:cNvPr id="90" name="TextovéPole 89">
            <a:extLst>
              <a:ext uri="{FF2B5EF4-FFF2-40B4-BE49-F238E27FC236}">
                <a16:creationId xmlns:a16="http://schemas.microsoft.com/office/drawing/2014/main" id="{4E2F0ECD-3530-D371-DCB9-011E797A6930}"/>
              </a:ext>
            </a:extLst>
          </p:cNvPr>
          <p:cNvSpPr txBox="1"/>
          <p:nvPr/>
        </p:nvSpPr>
        <p:spPr>
          <a:xfrm>
            <a:off x="-56978" y="9530012"/>
            <a:ext cx="4068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B. </a:t>
            </a:r>
            <a:r>
              <a:rPr lang="cs-CZ" sz="2400" b="1" dirty="0" err="1"/>
              <a:t>Pocket</a:t>
            </a:r>
            <a:r>
              <a:rPr lang="cs-CZ" sz="2400" b="1" dirty="0"/>
              <a:t> + </a:t>
            </a:r>
            <a:r>
              <a:rPr lang="cs-CZ" sz="2400" b="1" dirty="0" err="1"/>
              <a:t>Global</a:t>
            </a:r>
            <a:r>
              <a:rPr lang="cs-CZ" sz="2400" b="1" dirty="0"/>
              <a:t> </a:t>
            </a:r>
            <a:r>
              <a:rPr lang="cs-CZ" sz="2400" b="1" dirty="0" err="1"/>
              <a:t>context</a:t>
            </a:r>
            <a:endParaRPr lang="cs-CZ" sz="2400" b="1" dirty="0"/>
          </a:p>
        </p:txBody>
      </p:sp>
      <p:sp>
        <p:nvSpPr>
          <p:cNvPr id="91" name="TextovéPole 90">
            <a:extLst>
              <a:ext uri="{FF2B5EF4-FFF2-40B4-BE49-F238E27FC236}">
                <a16:creationId xmlns:a16="http://schemas.microsoft.com/office/drawing/2014/main" id="{98DB728F-79C3-003A-2268-B579070F20ED}"/>
              </a:ext>
            </a:extLst>
          </p:cNvPr>
          <p:cNvSpPr txBox="1"/>
          <p:nvPr/>
        </p:nvSpPr>
        <p:spPr>
          <a:xfrm>
            <a:off x="366263" y="10331553"/>
            <a:ext cx="3043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 </a:t>
            </a:r>
            <a:r>
              <a:rPr lang="cs-CZ" b="1" dirty="0" err="1"/>
              <a:t>Self-attention</a:t>
            </a:r>
            <a:r>
              <a:rPr lang="cs-CZ" b="1" dirty="0"/>
              <a:t> </a:t>
            </a:r>
            <a:r>
              <a:rPr lang="cs-CZ" b="1" dirty="0" err="1"/>
              <a:t>transformer</a:t>
            </a:r>
            <a:endParaRPr lang="cs-CZ" b="1" dirty="0"/>
          </a:p>
        </p:txBody>
      </p:sp>
      <p:grpSp>
        <p:nvGrpSpPr>
          <p:cNvPr id="93" name="Skupina 92">
            <a:extLst>
              <a:ext uri="{FF2B5EF4-FFF2-40B4-BE49-F238E27FC236}">
                <a16:creationId xmlns:a16="http://schemas.microsoft.com/office/drawing/2014/main" id="{D8DB3B35-2F06-A9E4-CD06-29B754D76610}"/>
              </a:ext>
            </a:extLst>
          </p:cNvPr>
          <p:cNvGrpSpPr/>
          <p:nvPr/>
        </p:nvGrpSpPr>
        <p:grpSpPr>
          <a:xfrm>
            <a:off x="537876" y="10839494"/>
            <a:ext cx="2606031" cy="513907"/>
            <a:chOff x="12110223" y="6110869"/>
            <a:chExt cx="6901200" cy="1213200"/>
          </a:xfrm>
        </p:grpSpPr>
        <p:sp>
          <p:nvSpPr>
            <p:cNvPr id="94" name="Zaoblený obdélník 93">
              <a:extLst>
                <a:ext uri="{FF2B5EF4-FFF2-40B4-BE49-F238E27FC236}">
                  <a16:creationId xmlns:a16="http://schemas.microsoft.com/office/drawing/2014/main" id="{DDBCBB44-512C-4D28-2CB6-3D11DF601830}"/>
                </a:ext>
              </a:extLst>
            </p:cNvPr>
            <p:cNvSpPr>
              <a:spLocks/>
            </p:cNvSpPr>
            <p:nvPr/>
          </p:nvSpPr>
          <p:spPr>
            <a:xfrm>
              <a:off x="12110223" y="6110869"/>
              <a:ext cx="6444000" cy="756000"/>
            </a:xfrm>
            <a:prstGeom prst="roundRect">
              <a:avLst/>
            </a:prstGeom>
            <a:solidFill>
              <a:srgbClr val="D4C93B"/>
            </a:solidFill>
            <a:ln>
              <a:solidFill>
                <a:srgbClr val="D4C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5" name="Zaoblený obdélník 94">
              <a:extLst>
                <a:ext uri="{FF2B5EF4-FFF2-40B4-BE49-F238E27FC236}">
                  <a16:creationId xmlns:a16="http://schemas.microsoft.com/office/drawing/2014/main" id="{CE97FB13-7FD6-5BC1-25F5-5A0571733FC9}"/>
                </a:ext>
              </a:extLst>
            </p:cNvPr>
            <p:cNvSpPr>
              <a:spLocks/>
            </p:cNvSpPr>
            <p:nvPr/>
          </p:nvSpPr>
          <p:spPr>
            <a:xfrm>
              <a:off x="12262623" y="6263269"/>
              <a:ext cx="6444000" cy="756000"/>
            </a:xfrm>
            <a:prstGeom prst="roundRect">
              <a:avLst/>
            </a:prstGeom>
            <a:solidFill>
              <a:srgbClr val="5D0000"/>
            </a:solidFill>
            <a:ln>
              <a:solidFill>
                <a:srgbClr val="5D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6" name="Zaoblený obdélník 95">
              <a:extLst>
                <a:ext uri="{FF2B5EF4-FFF2-40B4-BE49-F238E27FC236}">
                  <a16:creationId xmlns:a16="http://schemas.microsoft.com/office/drawing/2014/main" id="{841401B0-5CAD-1FD0-B344-E4C89841AE64}"/>
                </a:ext>
              </a:extLst>
            </p:cNvPr>
            <p:cNvSpPr>
              <a:spLocks/>
            </p:cNvSpPr>
            <p:nvPr/>
          </p:nvSpPr>
          <p:spPr>
            <a:xfrm>
              <a:off x="12415023" y="6415669"/>
              <a:ext cx="6444000" cy="756000"/>
            </a:xfrm>
            <a:prstGeom prst="roundRect">
              <a:avLst/>
            </a:prstGeom>
            <a:solidFill>
              <a:srgbClr val="674600"/>
            </a:solidFill>
            <a:ln>
              <a:solidFill>
                <a:srgbClr val="674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97" name="Zaoblený obdélník 96">
              <a:extLst>
                <a:ext uri="{FF2B5EF4-FFF2-40B4-BE49-F238E27FC236}">
                  <a16:creationId xmlns:a16="http://schemas.microsoft.com/office/drawing/2014/main" id="{26042AC3-B00E-0AAB-41C4-303918F08528}"/>
                </a:ext>
              </a:extLst>
            </p:cNvPr>
            <p:cNvSpPr>
              <a:spLocks/>
            </p:cNvSpPr>
            <p:nvPr/>
          </p:nvSpPr>
          <p:spPr>
            <a:xfrm>
              <a:off x="12567423" y="6568069"/>
              <a:ext cx="6444000" cy="756000"/>
            </a:xfrm>
            <a:prstGeom prst="roundRect">
              <a:avLst/>
            </a:prstGeom>
            <a:solidFill>
              <a:srgbClr val="4DA1D1"/>
            </a:solidFill>
            <a:ln>
              <a:solidFill>
                <a:srgbClr val="4DA1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98" name="Zaoblený obdélník 97">
            <a:extLst>
              <a:ext uri="{FF2B5EF4-FFF2-40B4-BE49-F238E27FC236}">
                <a16:creationId xmlns:a16="http://schemas.microsoft.com/office/drawing/2014/main" id="{2551799B-57FD-7B87-D837-767747D4A280}"/>
              </a:ext>
            </a:extLst>
          </p:cNvPr>
          <p:cNvSpPr>
            <a:spLocks/>
          </p:cNvSpPr>
          <p:nvPr/>
        </p:nvSpPr>
        <p:spPr>
          <a:xfrm>
            <a:off x="537876" y="11964628"/>
            <a:ext cx="4250881" cy="467843"/>
          </a:xfrm>
          <a:prstGeom prst="roundRect">
            <a:avLst/>
          </a:prstGeom>
          <a:solidFill>
            <a:srgbClr val="004EC9"/>
          </a:solidFill>
          <a:ln>
            <a:solidFill>
              <a:srgbClr val="004E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99" name="TextovéPole 98">
            <a:extLst>
              <a:ext uri="{FF2B5EF4-FFF2-40B4-BE49-F238E27FC236}">
                <a16:creationId xmlns:a16="http://schemas.microsoft.com/office/drawing/2014/main" id="{0F050A09-3CE6-07A6-10C1-B0914F2D2182}"/>
              </a:ext>
            </a:extLst>
          </p:cNvPr>
          <p:cNvSpPr txBox="1"/>
          <p:nvPr/>
        </p:nvSpPr>
        <p:spPr>
          <a:xfrm>
            <a:off x="1189334" y="12012915"/>
            <a:ext cx="282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chemeClr val="bg1"/>
                </a:solidFill>
              </a:rPr>
              <a:t>Protein </a:t>
            </a:r>
            <a:r>
              <a:rPr lang="cs-CZ" b="1" dirty="0" err="1">
                <a:solidFill>
                  <a:schemeClr val="bg1"/>
                </a:solidFill>
              </a:rPr>
              <a:t>Emb</a:t>
            </a:r>
            <a:r>
              <a:rPr lang="cs-CZ" b="1" dirty="0">
                <a:solidFill>
                  <a:schemeClr val="bg1"/>
                </a:solidFill>
              </a:rPr>
              <a:t>. [1,1280]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ovéPole 99">
                <a:extLst>
                  <a:ext uri="{FF2B5EF4-FFF2-40B4-BE49-F238E27FC236}">
                    <a16:creationId xmlns:a16="http://schemas.microsoft.com/office/drawing/2014/main" id="{3E88936E-D93D-1C76-67BF-BFC9392DB137}"/>
                  </a:ext>
                </a:extLst>
              </p:cNvPr>
              <p:cNvSpPr txBox="1"/>
              <p:nvPr/>
            </p:nvSpPr>
            <p:spPr>
              <a:xfrm>
                <a:off x="5399023" y="11077891"/>
                <a:ext cx="4122795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cs-CZ" b="1" i="1">
                          <a:latin typeface="Cambria Math" panose="02040503050406030204" pitchFamily="18" charset="0"/>
                        </a:rPr>
                        <m:t> = [</m:t>
                      </m:r>
                      <m:sSub>
                        <m:sSubPr>
                          <m:ctrlPr>
                            <a:rPr lang="cs-CZ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𝒑𝒓𝒐𝒕𝒆𝒊𝒏</m:t>
                          </m:r>
                        </m:sub>
                      </m:sSub>
                      <m:r>
                        <a:rPr lang="cs-CZ" b="1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cs-CZ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sSub>
                            <m:sSubPr>
                              <m:ctrlPr>
                                <a:rPr lang="cs-CZ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𝒑𝒐𝒄𝒌𝒆𝒕</m:t>
                              </m:r>
                            </m:e>
                            <m:sub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cs-CZ" b="1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cs-CZ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sSub>
                            <m:sSubPr>
                              <m:ctrlPr>
                                <a:rPr lang="cs-CZ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𝒑𝒐𝒄𝒌𝒆𝒕</m:t>
                              </m:r>
                            </m:e>
                            <m:sub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cs-CZ" b="1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cs-CZ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sSub>
                            <m:sSubPr>
                              <m:ctrlPr>
                                <a:rPr lang="cs-CZ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𝒑𝒐𝒄𝒌𝒆𝒕</m:t>
                              </m:r>
                            </m:e>
                            <m:sub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sub>
                      </m:sSub>
                      <m:r>
                        <a:rPr lang="cs-CZ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cs-CZ" b="1" dirty="0"/>
              </a:p>
            </p:txBody>
          </p:sp>
        </mc:Choice>
        <mc:Fallback>
          <p:sp>
            <p:nvSpPr>
              <p:cNvPr id="100" name="TextovéPole 99">
                <a:extLst>
                  <a:ext uri="{FF2B5EF4-FFF2-40B4-BE49-F238E27FC236}">
                    <a16:creationId xmlns:a16="http://schemas.microsoft.com/office/drawing/2014/main" id="{3E88936E-D93D-1C76-67BF-BFC9392DB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023" y="11077891"/>
                <a:ext cx="4122795" cy="301878"/>
              </a:xfrm>
              <a:prstGeom prst="rect">
                <a:avLst/>
              </a:prstGeom>
              <a:blipFill>
                <a:blip r:embed="rId7"/>
                <a:stretch>
                  <a:fillRect l="-923" t="-8000" r="-1846" b="-24000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Přímá spojovací šipka 102">
            <a:extLst>
              <a:ext uri="{FF2B5EF4-FFF2-40B4-BE49-F238E27FC236}">
                <a16:creationId xmlns:a16="http://schemas.microsoft.com/office/drawing/2014/main" id="{5B8D36D5-2447-D91C-3CEF-69F95FCC4D78}"/>
              </a:ext>
            </a:extLst>
          </p:cNvPr>
          <p:cNvCxnSpPr>
            <a:cxnSpLocks/>
          </p:cNvCxnSpPr>
          <p:nvPr/>
        </p:nvCxnSpPr>
        <p:spPr>
          <a:xfrm>
            <a:off x="3345945" y="11213620"/>
            <a:ext cx="1900120" cy="1066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4" name="Obrázek 103" descr="Obsah obrázku kruh, Barevnost, světlo, noc&#10;&#10;Obsah generovaný pomocí AI může být nesprávný.">
            <a:extLst>
              <a:ext uri="{FF2B5EF4-FFF2-40B4-BE49-F238E27FC236}">
                <a16:creationId xmlns:a16="http://schemas.microsoft.com/office/drawing/2014/main" id="{58758086-E7A2-7254-1CB0-09FC546A1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353" y="6884808"/>
            <a:ext cx="1169160" cy="1169160"/>
          </a:xfrm>
          <a:prstGeom prst="rect">
            <a:avLst/>
          </a:prstGeom>
        </p:spPr>
      </p:pic>
      <p:cxnSp>
        <p:nvCxnSpPr>
          <p:cNvPr id="109" name="Pravoúhlá spojnice 108">
            <a:extLst>
              <a:ext uri="{FF2B5EF4-FFF2-40B4-BE49-F238E27FC236}">
                <a16:creationId xmlns:a16="http://schemas.microsoft.com/office/drawing/2014/main" id="{444966EA-D468-6CA9-813E-E633C3ED4330}"/>
              </a:ext>
            </a:extLst>
          </p:cNvPr>
          <p:cNvCxnSpPr>
            <a:stCxn id="98" idx="3"/>
          </p:cNvCxnSpPr>
          <p:nvPr/>
        </p:nvCxnSpPr>
        <p:spPr>
          <a:xfrm flipV="1">
            <a:off x="4788756" y="11353400"/>
            <a:ext cx="610266" cy="845150"/>
          </a:xfrm>
          <a:prstGeom prst="bent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Obrázek 1" descr="Obsah obrázku kruh, Barevnost, světlo, noc&#10;&#10;Obsah generovaný pomocí AI může být nesprávný.">
            <a:extLst>
              <a:ext uri="{FF2B5EF4-FFF2-40B4-BE49-F238E27FC236}">
                <a16:creationId xmlns:a16="http://schemas.microsoft.com/office/drawing/2014/main" id="{862FCF0A-A080-9CF6-C00E-02400F6C3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769" y="10639708"/>
            <a:ext cx="1169160" cy="1169160"/>
          </a:xfrm>
          <a:prstGeom prst="rect">
            <a:avLst/>
          </a:pr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41AC3407-B6FA-693F-C69A-EAF196EA88D1}"/>
              </a:ext>
            </a:extLst>
          </p:cNvPr>
          <p:cNvSpPr txBox="1"/>
          <p:nvPr/>
        </p:nvSpPr>
        <p:spPr>
          <a:xfrm>
            <a:off x="10023195" y="11786141"/>
            <a:ext cx="2164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err="1"/>
              <a:t>Self-attention</a:t>
            </a:r>
            <a:r>
              <a:rPr lang="cs-CZ" b="1" dirty="0"/>
              <a:t> </a:t>
            </a:r>
            <a:r>
              <a:rPr lang="cs-CZ" b="1" dirty="0" err="1"/>
              <a:t>Block</a:t>
            </a:r>
            <a:endParaRPr lang="cs-CZ" b="1" dirty="0"/>
          </a:p>
        </p:txBody>
      </p:sp>
      <p:cxnSp>
        <p:nvCxnSpPr>
          <p:cNvPr id="5" name="Přímá spojovací šipka 4">
            <a:extLst>
              <a:ext uri="{FF2B5EF4-FFF2-40B4-BE49-F238E27FC236}">
                <a16:creationId xmlns:a16="http://schemas.microsoft.com/office/drawing/2014/main" id="{41C0080D-54D6-2D88-7727-FF628B420DF0}"/>
              </a:ext>
            </a:extLst>
          </p:cNvPr>
          <p:cNvCxnSpPr>
            <a:cxnSpLocks/>
          </p:cNvCxnSpPr>
          <p:nvPr/>
        </p:nvCxnSpPr>
        <p:spPr>
          <a:xfrm flipV="1">
            <a:off x="9541233" y="11249094"/>
            <a:ext cx="659120" cy="454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Přímá spojovací šipka 7">
            <a:extLst>
              <a:ext uri="{FF2B5EF4-FFF2-40B4-BE49-F238E27FC236}">
                <a16:creationId xmlns:a16="http://schemas.microsoft.com/office/drawing/2014/main" id="{6D71FF41-377B-9E92-C946-D0F346D13092}"/>
              </a:ext>
            </a:extLst>
          </p:cNvPr>
          <p:cNvCxnSpPr>
            <a:cxnSpLocks/>
          </p:cNvCxnSpPr>
          <p:nvPr/>
        </p:nvCxnSpPr>
        <p:spPr>
          <a:xfrm>
            <a:off x="11438967" y="10976324"/>
            <a:ext cx="157340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Přímá spojovací šipka 8">
            <a:extLst>
              <a:ext uri="{FF2B5EF4-FFF2-40B4-BE49-F238E27FC236}">
                <a16:creationId xmlns:a16="http://schemas.microsoft.com/office/drawing/2014/main" id="{8EEEF0CA-9EBE-DDF1-9E9B-9ADB465E8E38}"/>
              </a:ext>
            </a:extLst>
          </p:cNvPr>
          <p:cNvCxnSpPr>
            <a:cxnSpLocks/>
          </p:cNvCxnSpPr>
          <p:nvPr/>
        </p:nvCxnSpPr>
        <p:spPr>
          <a:xfrm>
            <a:off x="11591366" y="11128724"/>
            <a:ext cx="162734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Přímá spojovací šipka 9">
            <a:extLst>
              <a:ext uri="{FF2B5EF4-FFF2-40B4-BE49-F238E27FC236}">
                <a16:creationId xmlns:a16="http://schemas.microsoft.com/office/drawing/2014/main" id="{DF05B9D4-FD7B-F608-8952-6EE46903ED12}"/>
              </a:ext>
            </a:extLst>
          </p:cNvPr>
          <p:cNvCxnSpPr>
            <a:cxnSpLocks/>
          </p:cNvCxnSpPr>
          <p:nvPr/>
        </p:nvCxnSpPr>
        <p:spPr>
          <a:xfrm flipV="1">
            <a:off x="11694712" y="11249094"/>
            <a:ext cx="1743331" cy="1101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5D170960-70F3-B360-7E1A-2BB3C6CF4457}"/>
              </a:ext>
            </a:extLst>
          </p:cNvPr>
          <p:cNvSpPr txBox="1"/>
          <p:nvPr/>
        </p:nvSpPr>
        <p:spPr>
          <a:xfrm>
            <a:off x="11591365" y="11260105"/>
            <a:ext cx="2460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err="1"/>
              <a:t>Residual</a:t>
            </a:r>
            <a:r>
              <a:rPr lang="cs-CZ" dirty="0"/>
              <a:t> Con. + FFN </a:t>
            </a:r>
          </a:p>
          <a:p>
            <a:r>
              <a:rPr lang="cs-CZ" dirty="0"/>
              <a:t>+ MLP </a:t>
            </a:r>
            <a:r>
              <a:rPr lang="cs-CZ" dirty="0" err="1"/>
              <a:t>classifier</a:t>
            </a:r>
            <a:endParaRPr lang="cs-CZ" dirty="0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37CA54E3-BD08-DEEE-2600-E9E824FA02CC}"/>
              </a:ext>
            </a:extLst>
          </p:cNvPr>
          <p:cNvSpPr txBox="1"/>
          <p:nvPr/>
        </p:nvSpPr>
        <p:spPr>
          <a:xfrm>
            <a:off x="14142522" y="11008615"/>
            <a:ext cx="264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err="1"/>
              <a:t>Logits</a:t>
            </a:r>
            <a:endParaRPr lang="cs-CZ" b="1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89494A20-F06A-F92D-1A32-1E8EA9F019D5}"/>
              </a:ext>
            </a:extLst>
          </p:cNvPr>
          <p:cNvSpPr txBox="1"/>
          <p:nvPr/>
        </p:nvSpPr>
        <p:spPr>
          <a:xfrm>
            <a:off x="-75432" y="13460772"/>
            <a:ext cx="5061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C. Ligand + </a:t>
            </a:r>
            <a:r>
              <a:rPr lang="cs-CZ" sz="2400" b="1" dirty="0" err="1"/>
              <a:t>Pocket</a:t>
            </a:r>
            <a:r>
              <a:rPr lang="cs-CZ" sz="2400" b="1" dirty="0"/>
              <a:t> + </a:t>
            </a:r>
            <a:r>
              <a:rPr lang="cs-CZ" sz="2400" b="1" dirty="0" err="1"/>
              <a:t>Global</a:t>
            </a:r>
            <a:r>
              <a:rPr lang="cs-CZ" sz="2400" b="1" dirty="0"/>
              <a:t> </a:t>
            </a:r>
            <a:r>
              <a:rPr lang="cs-CZ" sz="2400" b="1" dirty="0" err="1"/>
              <a:t>context</a:t>
            </a:r>
            <a:endParaRPr lang="cs-CZ" sz="2400" b="1" dirty="0"/>
          </a:p>
        </p:txBody>
      </p:sp>
      <p:grpSp>
        <p:nvGrpSpPr>
          <p:cNvPr id="23" name="Skupina 22">
            <a:extLst>
              <a:ext uri="{FF2B5EF4-FFF2-40B4-BE49-F238E27FC236}">
                <a16:creationId xmlns:a16="http://schemas.microsoft.com/office/drawing/2014/main" id="{B24BC213-2498-A59F-E554-A241A4BB8FCD}"/>
              </a:ext>
            </a:extLst>
          </p:cNvPr>
          <p:cNvGrpSpPr/>
          <p:nvPr/>
        </p:nvGrpSpPr>
        <p:grpSpPr>
          <a:xfrm>
            <a:off x="566473" y="14642413"/>
            <a:ext cx="2606031" cy="513907"/>
            <a:chOff x="12110223" y="6110869"/>
            <a:chExt cx="6901200" cy="1213200"/>
          </a:xfrm>
        </p:grpSpPr>
        <p:sp>
          <p:nvSpPr>
            <p:cNvPr id="24" name="Zaoblený obdélník 23">
              <a:extLst>
                <a:ext uri="{FF2B5EF4-FFF2-40B4-BE49-F238E27FC236}">
                  <a16:creationId xmlns:a16="http://schemas.microsoft.com/office/drawing/2014/main" id="{DE9A1245-9840-3FE6-23F2-4CA867F3A6F9}"/>
                </a:ext>
              </a:extLst>
            </p:cNvPr>
            <p:cNvSpPr>
              <a:spLocks/>
            </p:cNvSpPr>
            <p:nvPr/>
          </p:nvSpPr>
          <p:spPr>
            <a:xfrm>
              <a:off x="12110223" y="6110869"/>
              <a:ext cx="6444000" cy="756000"/>
            </a:xfrm>
            <a:prstGeom prst="roundRect">
              <a:avLst/>
            </a:prstGeom>
            <a:solidFill>
              <a:srgbClr val="D4C93B"/>
            </a:solidFill>
            <a:ln>
              <a:solidFill>
                <a:srgbClr val="D4C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Zaoblený obdélník 24">
              <a:extLst>
                <a:ext uri="{FF2B5EF4-FFF2-40B4-BE49-F238E27FC236}">
                  <a16:creationId xmlns:a16="http://schemas.microsoft.com/office/drawing/2014/main" id="{EACD6829-7E38-6762-D215-74ED7B4D8589}"/>
                </a:ext>
              </a:extLst>
            </p:cNvPr>
            <p:cNvSpPr>
              <a:spLocks/>
            </p:cNvSpPr>
            <p:nvPr/>
          </p:nvSpPr>
          <p:spPr>
            <a:xfrm>
              <a:off x="12262623" y="6263269"/>
              <a:ext cx="6444000" cy="756000"/>
            </a:xfrm>
            <a:prstGeom prst="roundRect">
              <a:avLst/>
            </a:prstGeom>
            <a:solidFill>
              <a:srgbClr val="5D0000"/>
            </a:solidFill>
            <a:ln>
              <a:solidFill>
                <a:srgbClr val="5D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Zaoblený obdélník 25">
              <a:extLst>
                <a:ext uri="{FF2B5EF4-FFF2-40B4-BE49-F238E27FC236}">
                  <a16:creationId xmlns:a16="http://schemas.microsoft.com/office/drawing/2014/main" id="{255F29C1-7D6C-D92F-65AF-F1A320E06D3C}"/>
                </a:ext>
              </a:extLst>
            </p:cNvPr>
            <p:cNvSpPr>
              <a:spLocks/>
            </p:cNvSpPr>
            <p:nvPr/>
          </p:nvSpPr>
          <p:spPr>
            <a:xfrm>
              <a:off x="12415023" y="6415669"/>
              <a:ext cx="6444000" cy="756000"/>
            </a:xfrm>
            <a:prstGeom prst="roundRect">
              <a:avLst/>
            </a:prstGeom>
            <a:solidFill>
              <a:srgbClr val="674600"/>
            </a:solidFill>
            <a:ln>
              <a:solidFill>
                <a:srgbClr val="674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27" name="Zaoblený obdélník 26">
              <a:extLst>
                <a:ext uri="{FF2B5EF4-FFF2-40B4-BE49-F238E27FC236}">
                  <a16:creationId xmlns:a16="http://schemas.microsoft.com/office/drawing/2014/main" id="{73A6AC4F-38E9-0EB6-6D95-DF77F1DD1277}"/>
                </a:ext>
              </a:extLst>
            </p:cNvPr>
            <p:cNvSpPr>
              <a:spLocks/>
            </p:cNvSpPr>
            <p:nvPr/>
          </p:nvSpPr>
          <p:spPr>
            <a:xfrm>
              <a:off x="12567423" y="6568069"/>
              <a:ext cx="6444000" cy="756000"/>
            </a:xfrm>
            <a:prstGeom prst="roundRect">
              <a:avLst/>
            </a:prstGeom>
            <a:solidFill>
              <a:srgbClr val="4DA1D1"/>
            </a:solidFill>
            <a:ln>
              <a:solidFill>
                <a:srgbClr val="4DA1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28" name="Zaoblený obdélník 27">
            <a:extLst>
              <a:ext uri="{FF2B5EF4-FFF2-40B4-BE49-F238E27FC236}">
                <a16:creationId xmlns:a16="http://schemas.microsoft.com/office/drawing/2014/main" id="{08A15787-5C94-8EEE-99B9-F4B062C09760}"/>
              </a:ext>
            </a:extLst>
          </p:cNvPr>
          <p:cNvSpPr>
            <a:spLocks/>
          </p:cNvSpPr>
          <p:nvPr/>
        </p:nvSpPr>
        <p:spPr>
          <a:xfrm>
            <a:off x="681685" y="15691628"/>
            <a:ext cx="4250881" cy="467843"/>
          </a:xfrm>
          <a:prstGeom prst="roundRect">
            <a:avLst/>
          </a:prstGeom>
          <a:solidFill>
            <a:srgbClr val="004EC9"/>
          </a:solidFill>
          <a:ln>
            <a:solidFill>
              <a:srgbClr val="004E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grpSp>
        <p:nvGrpSpPr>
          <p:cNvPr id="92" name="Skupina 91">
            <a:extLst>
              <a:ext uri="{FF2B5EF4-FFF2-40B4-BE49-F238E27FC236}">
                <a16:creationId xmlns:a16="http://schemas.microsoft.com/office/drawing/2014/main" id="{81D6C5CC-9449-E408-1528-8043B5948A72}"/>
              </a:ext>
            </a:extLst>
          </p:cNvPr>
          <p:cNvGrpSpPr/>
          <p:nvPr/>
        </p:nvGrpSpPr>
        <p:grpSpPr>
          <a:xfrm>
            <a:off x="7319317" y="16734435"/>
            <a:ext cx="2528105" cy="447480"/>
            <a:chOff x="7307342" y="17483672"/>
            <a:chExt cx="2935772" cy="636659"/>
          </a:xfrm>
        </p:grpSpPr>
        <p:sp>
          <p:nvSpPr>
            <p:cNvPr id="64" name="Zaoblený obdélník 63">
              <a:extLst>
                <a:ext uri="{FF2B5EF4-FFF2-40B4-BE49-F238E27FC236}">
                  <a16:creationId xmlns:a16="http://schemas.microsoft.com/office/drawing/2014/main" id="{7BF1126F-2A09-4CC0-2889-D8F97CD4C357}"/>
                </a:ext>
              </a:extLst>
            </p:cNvPr>
            <p:cNvSpPr>
              <a:spLocks/>
            </p:cNvSpPr>
            <p:nvPr/>
          </p:nvSpPr>
          <p:spPr>
            <a:xfrm>
              <a:off x="7307342" y="17483672"/>
              <a:ext cx="2433383" cy="320239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76" name="Zaoblený obdélník 75">
              <a:extLst>
                <a:ext uri="{FF2B5EF4-FFF2-40B4-BE49-F238E27FC236}">
                  <a16:creationId xmlns:a16="http://schemas.microsoft.com/office/drawing/2014/main" id="{5CED2CCF-25BD-DDBE-08A0-2E87D4E28EA4}"/>
                </a:ext>
              </a:extLst>
            </p:cNvPr>
            <p:cNvSpPr>
              <a:spLocks/>
            </p:cNvSpPr>
            <p:nvPr/>
          </p:nvSpPr>
          <p:spPr>
            <a:xfrm>
              <a:off x="7383541" y="17559873"/>
              <a:ext cx="2433383" cy="320239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8" name="Zaoblený obdélník 77">
              <a:extLst>
                <a:ext uri="{FF2B5EF4-FFF2-40B4-BE49-F238E27FC236}">
                  <a16:creationId xmlns:a16="http://schemas.microsoft.com/office/drawing/2014/main" id="{774CCDFF-6297-F6AE-FD69-7DB557338DE3}"/>
                </a:ext>
              </a:extLst>
            </p:cNvPr>
            <p:cNvSpPr>
              <a:spLocks/>
            </p:cNvSpPr>
            <p:nvPr/>
          </p:nvSpPr>
          <p:spPr>
            <a:xfrm>
              <a:off x="7504379" y="17620633"/>
              <a:ext cx="2433383" cy="320239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9" name="Zaoblený obdélník 78">
              <a:extLst>
                <a:ext uri="{FF2B5EF4-FFF2-40B4-BE49-F238E27FC236}">
                  <a16:creationId xmlns:a16="http://schemas.microsoft.com/office/drawing/2014/main" id="{098C1555-DBE3-5D58-C60D-E9908BCE38E6}"/>
                </a:ext>
              </a:extLst>
            </p:cNvPr>
            <p:cNvSpPr>
              <a:spLocks/>
            </p:cNvSpPr>
            <p:nvPr/>
          </p:nvSpPr>
          <p:spPr>
            <a:xfrm>
              <a:off x="7660969" y="17719992"/>
              <a:ext cx="2433383" cy="320239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80" name="Zaoblený obdélník 79">
              <a:extLst>
                <a:ext uri="{FF2B5EF4-FFF2-40B4-BE49-F238E27FC236}">
                  <a16:creationId xmlns:a16="http://schemas.microsoft.com/office/drawing/2014/main" id="{2B9D2C82-5F3A-EBCC-6F23-FADCF259DC01}"/>
                </a:ext>
              </a:extLst>
            </p:cNvPr>
            <p:cNvSpPr>
              <a:spLocks/>
            </p:cNvSpPr>
            <p:nvPr/>
          </p:nvSpPr>
          <p:spPr>
            <a:xfrm>
              <a:off x="7809731" y="17800092"/>
              <a:ext cx="2433383" cy="32023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</p:grpSp>
      <p:pic>
        <p:nvPicPr>
          <p:cNvPr id="87" name="Grafický objekt 86">
            <a:extLst>
              <a:ext uri="{FF2B5EF4-FFF2-40B4-BE49-F238E27FC236}">
                <a16:creationId xmlns:a16="http://schemas.microsoft.com/office/drawing/2014/main" id="{F4FF295F-29FF-D6D7-14BC-DD0E84B57F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9516"/>
          <a:stretch>
            <a:fillRect/>
          </a:stretch>
        </p:blipFill>
        <p:spPr>
          <a:xfrm>
            <a:off x="-68928" y="16490326"/>
            <a:ext cx="6000848" cy="964806"/>
          </a:xfrm>
          <a:prstGeom prst="rect">
            <a:avLst/>
          </a:prstGeom>
        </p:spPr>
      </p:pic>
      <p:sp>
        <p:nvSpPr>
          <p:cNvPr id="101" name="TextovéPole 100">
            <a:extLst>
              <a:ext uri="{FF2B5EF4-FFF2-40B4-BE49-F238E27FC236}">
                <a16:creationId xmlns:a16="http://schemas.microsoft.com/office/drawing/2014/main" id="{7DA4F97E-B0F0-F0FD-FFFE-46F025515DEC}"/>
              </a:ext>
            </a:extLst>
          </p:cNvPr>
          <p:cNvSpPr txBox="1"/>
          <p:nvPr/>
        </p:nvSpPr>
        <p:spPr>
          <a:xfrm>
            <a:off x="1446187" y="15735978"/>
            <a:ext cx="282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chemeClr val="bg1"/>
                </a:solidFill>
              </a:rPr>
              <a:t>Protein </a:t>
            </a:r>
            <a:r>
              <a:rPr lang="cs-CZ" b="1" dirty="0" err="1">
                <a:solidFill>
                  <a:schemeClr val="bg1"/>
                </a:solidFill>
              </a:rPr>
              <a:t>Emb</a:t>
            </a:r>
            <a:r>
              <a:rPr lang="cs-CZ" b="1" dirty="0">
                <a:solidFill>
                  <a:schemeClr val="bg1"/>
                </a:solidFill>
              </a:rPr>
              <a:t>. [1,1280] </a:t>
            </a:r>
          </a:p>
        </p:txBody>
      </p:sp>
      <p:sp>
        <p:nvSpPr>
          <p:cNvPr id="102" name="TextovéPole 101">
            <a:extLst>
              <a:ext uri="{FF2B5EF4-FFF2-40B4-BE49-F238E27FC236}">
                <a16:creationId xmlns:a16="http://schemas.microsoft.com/office/drawing/2014/main" id="{BC644AD2-7984-69EC-C018-6EB32482DB74}"/>
              </a:ext>
            </a:extLst>
          </p:cNvPr>
          <p:cNvSpPr txBox="1"/>
          <p:nvPr/>
        </p:nvSpPr>
        <p:spPr>
          <a:xfrm>
            <a:off x="158168" y="17321632"/>
            <a:ext cx="103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NADH+</a:t>
            </a:r>
          </a:p>
        </p:txBody>
      </p:sp>
      <p:sp>
        <p:nvSpPr>
          <p:cNvPr id="105" name="TextovéPole 104">
            <a:extLst>
              <a:ext uri="{FF2B5EF4-FFF2-40B4-BE49-F238E27FC236}">
                <a16:creationId xmlns:a16="http://schemas.microsoft.com/office/drawing/2014/main" id="{B32BDE11-3798-656C-B23F-BEBEDE8BB62A}"/>
              </a:ext>
            </a:extLst>
          </p:cNvPr>
          <p:cNvSpPr txBox="1"/>
          <p:nvPr/>
        </p:nvSpPr>
        <p:spPr>
          <a:xfrm>
            <a:off x="1426075" y="17321631"/>
            <a:ext cx="80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FAD</a:t>
            </a:r>
          </a:p>
        </p:txBody>
      </p:sp>
      <p:sp>
        <p:nvSpPr>
          <p:cNvPr id="106" name="TextovéPole 105">
            <a:extLst>
              <a:ext uri="{FF2B5EF4-FFF2-40B4-BE49-F238E27FC236}">
                <a16:creationId xmlns:a16="http://schemas.microsoft.com/office/drawing/2014/main" id="{A2743C2F-CBBA-66CF-48DA-601FD224B900}"/>
              </a:ext>
            </a:extLst>
          </p:cNvPr>
          <p:cNvSpPr txBox="1"/>
          <p:nvPr/>
        </p:nvSpPr>
        <p:spPr>
          <a:xfrm>
            <a:off x="2653485" y="17321631"/>
            <a:ext cx="80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ATP</a:t>
            </a:r>
          </a:p>
        </p:txBody>
      </p:sp>
      <p:sp>
        <p:nvSpPr>
          <p:cNvPr id="107" name="TextovéPole 106">
            <a:extLst>
              <a:ext uri="{FF2B5EF4-FFF2-40B4-BE49-F238E27FC236}">
                <a16:creationId xmlns:a16="http://schemas.microsoft.com/office/drawing/2014/main" id="{13F5AFB3-C7E1-8C14-D918-CD6F98071E27}"/>
              </a:ext>
            </a:extLst>
          </p:cNvPr>
          <p:cNvSpPr txBox="1"/>
          <p:nvPr/>
        </p:nvSpPr>
        <p:spPr>
          <a:xfrm>
            <a:off x="3783423" y="17321631"/>
            <a:ext cx="80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B12</a:t>
            </a:r>
          </a:p>
        </p:txBody>
      </p:sp>
      <p:sp>
        <p:nvSpPr>
          <p:cNvPr id="108" name="TextovéPole 107">
            <a:extLst>
              <a:ext uri="{FF2B5EF4-FFF2-40B4-BE49-F238E27FC236}">
                <a16:creationId xmlns:a16="http://schemas.microsoft.com/office/drawing/2014/main" id="{709DC6B8-9EC7-4DA0-4897-4909E6DC4FF5}"/>
              </a:ext>
            </a:extLst>
          </p:cNvPr>
          <p:cNvSpPr txBox="1"/>
          <p:nvPr/>
        </p:nvSpPr>
        <p:spPr>
          <a:xfrm>
            <a:off x="4883773" y="17321632"/>
            <a:ext cx="91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Acetyl-</a:t>
            </a:r>
            <a:r>
              <a:rPr lang="cs-CZ" b="1" dirty="0" err="1"/>
              <a:t>CoA</a:t>
            </a:r>
            <a:endParaRPr lang="cs-CZ" b="1" dirty="0"/>
          </a:p>
        </p:txBody>
      </p:sp>
      <p:cxnSp>
        <p:nvCxnSpPr>
          <p:cNvPr id="114" name="Přímá spojovací šipka 113">
            <a:extLst>
              <a:ext uri="{FF2B5EF4-FFF2-40B4-BE49-F238E27FC236}">
                <a16:creationId xmlns:a16="http://schemas.microsoft.com/office/drawing/2014/main" id="{66F76AAD-15D1-83EF-3F45-8B408E61156F}"/>
              </a:ext>
            </a:extLst>
          </p:cNvPr>
          <p:cNvCxnSpPr/>
          <p:nvPr/>
        </p:nvCxnSpPr>
        <p:spPr>
          <a:xfrm>
            <a:off x="5951937" y="16943238"/>
            <a:ext cx="1205618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ovéPole 114">
            <a:extLst>
              <a:ext uri="{FF2B5EF4-FFF2-40B4-BE49-F238E27FC236}">
                <a16:creationId xmlns:a16="http://schemas.microsoft.com/office/drawing/2014/main" id="{6CC412A1-0AAE-5B47-F8D5-9F1464C1B0BF}"/>
              </a:ext>
            </a:extLst>
          </p:cNvPr>
          <p:cNvSpPr txBox="1"/>
          <p:nvPr/>
        </p:nvSpPr>
        <p:spPr>
          <a:xfrm>
            <a:off x="7460421" y="16383745"/>
            <a:ext cx="211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ECFP-</a:t>
            </a:r>
            <a:r>
              <a:rPr lang="cs-CZ" b="1" dirty="0" err="1"/>
              <a:t>Fingerprints</a:t>
            </a:r>
            <a:endParaRPr lang="cs-CZ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ovéPole 115">
                <a:extLst>
                  <a:ext uri="{FF2B5EF4-FFF2-40B4-BE49-F238E27FC236}">
                    <a16:creationId xmlns:a16="http://schemas.microsoft.com/office/drawing/2014/main" id="{16F0F024-BC36-8A1C-2C75-3754C3AC9848}"/>
                  </a:ext>
                </a:extLst>
              </p:cNvPr>
              <p:cNvSpPr txBox="1"/>
              <p:nvPr/>
            </p:nvSpPr>
            <p:spPr>
              <a:xfrm>
                <a:off x="5600381" y="14767928"/>
                <a:ext cx="4122795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cs-CZ" b="1" i="1">
                          <a:latin typeface="Cambria Math" panose="02040503050406030204" pitchFamily="18" charset="0"/>
                        </a:rPr>
                        <m:t> = [</m:t>
                      </m:r>
                      <m:sSub>
                        <m:sSubPr>
                          <m:ctrlPr>
                            <a:rPr lang="cs-CZ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𝒑𝒓𝒐𝒕𝒆𝒊𝒏</m:t>
                          </m:r>
                        </m:sub>
                      </m:sSub>
                      <m:r>
                        <a:rPr lang="cs-CZ" b="1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cs-CZ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sSub>
                            <m:sSubPr>
                              <m:ctrlPr>
                                <a:rPr lang="cs-CZ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𝒑𝒐𝒄𝒌𝒆𝒕</m:t>
                              </m:r>
                            </m:e>
                            <m:sub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cs-CZ" b="1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cs-CZ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sSub>
                            <m:sSubPr>
                              <m:ctrlPr>
                                <a:rPr lang="cs-CZ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𝒑𝒐𝒄𝒌𝒆𝒕</m:t>
                              </m:r>
                            </m:e>
                            <m:sub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cs-CZ" b="1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cs-CZ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sSub>
                            <m:sSubPr>
                              <m:ctrlPr>
                                <a:rPr lang="cs-CZ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𝒑𝒐𝒄𝒌𝒆𝒕</m:t>
                              </m:r>
                            </m:e>
                            <m:sub>
                              <m:r>
                                <a:rPr lang="cs-CZ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sub>
                      </m:sSub>
                      <m:r>
                        <a:rPr lang="cs-CZ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cs-CZ" b="1" dirty="0"/>
              </a:p>
            </p:txBody>
          </p:sp>
        </mc:Choice>
        <mc:Fallback>
          <p:sp>
            <p:nvSpPr>
              <p:cNvPr id="116" name="TextovéPole 115">
                <a:extLst>
                  <a:ext uri="{FF2B5EF4-FFF2-40B4-BE49-F238E27FC236}">
                    <a16:creationId xmlns:a16="http://schemas.microsoft.com/office/drawing/2014/main" id="{16F0F024-BC36-8A1C-2C75-3754C3AC9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381" y="14767928"/>
                <a:ext cx="4122795" cy="301878"/>
              </a:xfrm>
              <a:prstGeom prst="rect">
                <a:avLst/>
              </a:prstGeom>
              <a:blipFill>
                <a:blip r:embed="rId10"/>
                <a:stretch>
                  <a:fillRect l="-923" t="-8333" r="-1538" b="-29167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Přímá spojovací šipka 116">
            <a:extLst>
              <a:ext uri="{FF2B5EF4-FFF2-40B4-BE49-F238E27FC236}">
                <a16:creationId xmlns:a16="http://schemas.microsoft.com/office/drawing/2014/main" id="{D3E61EFC-4221-A409-55C3-E3D8AE77965A}"/>
              </a:ext>
            </a:extLst>
          </p:cNvPr>
          <p:cNvCxnSpPr>
            <a:cxnSpLocks/>
          </p:cNvCxnSpPr>
          <p:nvPr/>
        </p:nvCxnSpPr>
        <p:spPr>
          <a:xfrm>
            <a:off x="3263733" y="14900349"/>
            <a:ext cx="2183690" cy="1397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Pravoúhlá spojnice 117">
            <a:extLst>
              <a:ext uri="{FF2B5EF4-FFF2-40B4-BE49-F238E27FC236}">
                <a16:creationId xmlns:a16="http://schemas.microsoft.com/office/drawing/2014/main" id="{13BDB885-2ACE-B81B-9826-1F74A838F947}"/>
              </a:ext>
            </a:extLst>
          </p:cNvPr>
          <p:cNvCxnSpPr/>
          <p:nvPr/>
        </p:nvCxnSpPr>
        <p:spPr>
          <a:xfrm flipV="1">
            <a:off x="4990114" y="15043438"/>
            <a:ext cx="610266" cy="845150"/>
          </a:xfrm>
          <a:prstGeom prst="bent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ovéPole 120">
            <a:extLst>
              <a:ext uri="{FF2B5EF4-FFF2-40B4-BE49-F238E27FC236}">
                <a16:creationId xmlns:a16="http://schemas.microsoft.com/office/drawing/2014/main" id="{FF7063A6-0847-FD0B-E3D6-56392D99B8D5}"/>
              </a:ext>
            </a:extLst>
          </p:cNvPr>
          <p:cNvSpPr txBox="1"/>
          <p:nvPr/>
        </p:nvSpPr>
        <p:spPr>
          <a:xfrm>
            <a:off x="10152266" y="14777986"/>
            <a:ext cx="125791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rgbClr val="FF0000"/>
                </a:solidFill>
              </a:rPr>
              <a:t> </a:t>
            </a:r>
            <a:r>
              <a:rPr lang="cs-CZ" b="1" dirty="0" err="1">
                <a:solidFill>
                  <a:srgbClr val="FF0000"/>
                </a:solidFill>
              </a:rPr>
              <a:t>Key,Value</a:t>
            </a:r>
            <a:endParaRPr lang="cs-CZ" b="1" dirty="0">
              <a:solidFill>
                <a:srgbClr val="FF0000"/>
              </a:solidFill>
            </a:endParaRPr>
          </a:p>
        </p:txBody>
      </p:sp>
      <p:sp>
        <p:nvSpPr>
          <p:cNvPr id="122" name="TextovéPole 121">
            <a:extLst>
              <a:ext uri="{FF2B5EF4-FFF2-40B4-BE49-F238E27FC236}">
                <a16:creationId xmlns:a16="http://schemas.microsoft.com/office/drawing/2014/main" id="{20317C6E-EF17-CC7B-A5EF-EF0D6FC29987}"/>
              </a:ext>
            </a:extLst>
          </p:cNvPr>
          <p:cNvSpPr txBox="1"/>
          <p:nvPr/>
        </p:nvSpPr>
        <p:spPr>
          <a:xfrm>
            <a:off x="10219771" y="16812582"/>
            <a:ext cx="8582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cs-CZ" b="1" dirty="0" err="1">
                <a:solidFill>
                  <a:srgbClr val="FF0000"/>
                </a:solidFill>
              </a:rPr>
              <a:t>Query</a:t>
            </a:r>
            <a:endParaRPr lang="cs-CZ" b="1" dirty="0">
              <a:solidFill>
                <a:srgbClr val="FF0000"/>
              </a:solidFill>
            </a:endParaRPr>
          </a:p>
        </p:txBody>
      </p:sp>
      <p:pic>
        <p:nvPicPr>
          <p:cNvPr id="123" name="Obrázek 122" descr="Obsah obrázku kruh, Barevnost, světlo, noc&#10;&#10;Obsah generovaný pomocí AI může být nesprávný.">
            <a:extLst>
              <a:ext uri="{FF2B5EF4-FFF2-40B4-BE49-F238E27FC236}">
                <a16:creationId xmlns:a16="http://schemas.microsoft.com/office/drawing/2014/main" id="{A4D8BAE9-7BBF-88E6-3CC7-50193477B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3212" y="15242280"/>
            <a:ext cx="1169160" cy="1169160"/>
          </a:xfrm>
          <a:prstGeom prst="rect">
            <a:avLst/>
          </a:prstGeom>
        </p:spPr>
      </p:pic>
      <p:cxnSp>
        <p:nvCxnSpPr>
          <p:cNvPr id="125" name="Pravoúhlá spojnice 124">
            <a:extLst>
              <a:ext uri="{FF2B5EF4-FFF2-40B4-BE49-F238E27FC236}">
                <a16:creationId xmlns:a16="http://schemas.microsoft.com/office/drawing/2014/main" id="{0DD9AE8D-0882-9A3E-2B2B-9B61DE131EFA}"/>
              </a:ext>
            </a:extLst>
          </p:cNvPr>
          <p:cNvCxnSpPr>
            <a:stCxn id="122" idx="3"/>
            <a:endCxn id="123" idx="1"/>
          </p:cNvCxnSpPr>
          <p:nvPr/>
        </p:nvCxnSpPr>
        <p:spPr>
          <a:xfrm flipV="1">
            <a:off x="11078027" y="15826860"/>
            <a:ext cx="765185" cy="1170388"/>
          </a:xfrm>
          <a:prstGeom prst="bentConnector3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Pravoúhlá spojnice 126">
            <a:extLst>
              <a:ext uri="{FF2B5EF4-FFF2-40B4-BE49-F238E27FC236}">
                <a16:creationId xmlns:a16="http://schemas.microsoft.com/office/drawing/2014/main" id="{D926D71F-050C-6C9C-96B3-B7E66A12FE28}"/>
              </a:ext>
            </a:extLst>
          </p:cNvPr>
          <p:cNvCxnSpPr>
            <a:cxnSpLocks/>
            <a:stCxn id="121" idx="2"/>
            <a:endCxn id="123" idx="1"/>
          </p:cNvCxnSpPr>
          <p:nvPr/>
        </p:nvCxnSpPr>
        <p:spPr>
          <a:xfrm rot="16200000" flipH="1">
            <a:off x="10972447" y="14956095"/>
            <a:ext cx="679542" cy="1061987"/>
          </a:xfrm>
          <a:prstGeom prst="bent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ovéPole 130">
            <a:extLst>
              <a:ext uri="{FF2B5EF4-FFF2-40B4-BE49-F238E27FC236}">
                <a16:creationId xmlns:a16="http://schemas.microsoft.com/office/drawing/2014/main" id="{D508C20A-8508-08FB-1DFC-74CAEDDBF5A9}"/>
              </a:ext>
            </a:extLst>
          </p:cNvPr>
          <p:cNvSpPr txBox="1"/>
          <p:nvPr/>
        </p:nvSpPr>
        <p:spPr>
          <a:xfrm>
            <a:off x="11911613" y="16369034"/>
            <a:ext cx="1594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err="1"/>
              <a:t>Cross-attention</a:t>
            </a:r>
            <a:r>
              <a:rPr lang="cs-CZ" b="1" dirty="0"/>
              <a:t> </a:t>
            </a:r>
            <a:r>
              <a:rPr lang="cs-CZ" b="1" dirty="0" err="1"/>
              <a:t>Block</a:t>
            </a:r>
            <a:endParaRPr lang="cs-CZ" b="1" dirty="0"/>
          </a:p>
        </p:txBody>
      </p:sp>
      <p:cxnSp>
        <p:nvCxnSpPr>
          <p:cNvPr id="132" name="Přímá spojovací šipka 131">
            <a:extLst>
              <a:ext uri="{FF2B5EF4-FFF2-40B4-BE49-F238E27FC236}">
                <a16:creationId xmlns:a16="http://schemas.microsoft.com/office/drawing/2014/main" id="{7DFBA281-291F-13E4-8E21-0D1E0CB1934C}"/>
              </a:ext>
            </a:extLst>
          </p:cNvPr>
          <p:cNvCxnSpPr>
            <a:cxnSpLocks/>
          </p:cNvCxnSpPr>
          <p:nvPr/>
        </p:nvCxnSpPr>
        <p:spPr>
          <a:xfrm>
            <a:off x="13161533" y="15691628"/>
            <a:ext cx="157340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Přímá spojovací šipka 132">
            <a:extLst>
              <a:ext uri="{FF2B5EF4-FFF2-40B4-BE49-F238E27FC236}">
                <a16:creationId xmlns:a16="http://schemas.microsoft.com/office/drawing/2014/main" id="{BD407202-B2C0-6D1E-E804-6435682739C8}"/>
              </a:ext>
            </a:extLst>
          </p:cNvPr>
          <p:cNvCxnSpPr>
            <a:cxnSpLocks/>
          </p:cNvCxnSpPr>
          <p:nvPr/>
        </p:nvCxnSpPr>
        <p:spPr>
          <a:xfrm>
            <a:off x="13313934" y="15844028"/>
            <a:ext cx="157340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Přímá spojovací šipka 133">
            <a:extLst>
              <a:ext uri="{FF2B5EF4-FFF2-40B4-BE49-F238E27FC236}">
                <a16:creationId xmlns:a16="http://schemas.microsoft.com/office/drawing/2014/main" id="{7F6FC4DE-1043-7F6A-7317-B548236B6006}"/>
              </a:ext>
            </a:extLst>
          </p:cNvPr>
          <p:cNvCxnSpPr>
            <a:cxnSpLocks/>
          </p:cNvCxnSpPr>
          <p:nvPr/>
        </p:nvCxnSpPr>
        <p:spPr>
          <a:xfrm>
            <a:off x="13466334" y="15996428"/>
            <a:ext cx="157340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5" name="TextovéPole 134">
            <a:extLst>
              <a:ext uri="{FF2B5EF4-FFF2-40B4-BE49-F238E27FC236}">
                <a16:creationId xmlns:a16="http://schemas.microsoft.com/office/drawing/2014/main" id="{4FCA445D-5580-9E1D-43F4-272DB021237C}"/>
              </a:ext>
            </a:extLst>
          </p:cNvPr>
          <p:cNvSpPr txBox="1"/>
          <p:nvPr/>
        </p:nvSpPr>
        <p:spPr>
          <a:xfrm>
            <a:off x="15599158" y="15747105"/>
            <a:ext cx="264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err="1"/>
              <a:t>Logits</a:t>
            </a:r>
            <a:endParaRPr lang="cs-CZ" b="1" dirty="0"/>
          </a:p>
        </p:txBody>
      </p:sp>
      <p:sp>
        <p:nvSpPr>
          <p:cNvPr id="136" name="TextovéPole 135">
            <a:extLst>
              <a:ext uri="{FF2B5EF4-FFF2-40B4-BE49-F238E27FC236}">
                <a16:creationId xmlns:a16="http://schemas.microsoft.com/office/drawing/2014/main" id="{515E10B5-8CEC-6BA4-1311-69A5982DD904}"/>
              </a:ext>
            </a:extLst>
          </p:cNvPr>
          <p:cNvSpPr txBox="1"/>
          <p:nvPr/>
        </p:nvSpPr>
        <p:spPr>
          <a:xfrm>
            <a:off x="13313932" y="16064233"/>
            <a:ext cx="24606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 err="1"/>
              <a:t>Attention</a:t>
            </a:r>
            <a:r>
              <a:rPr lang="cs-CZ" sz="1400" dirty="0"/>
              <a:t> </a:t>
            </a:r>
            <a:r>
              <a:rPr lang="cs-CZ" sz="1400" dirty="0" err="1"/>
              <a:t>w</a:t>
            </a:r>
            <a:r>
              <a:rPr lang="cs-CZ" sz="1400" dirty="0"/>
              <a:t>. + </a:t>
            </a:r>
            <a:r>
              <a:rPr lang="cs-CZ" sz="1400" dirty="0" err="1"/>
              <a:t>Residual</a:t>
            </a:r>
            <a:r>
              <a:rPr lang="cs-CZ" sz="1400" dirty="0"/>
              <a:t> Con. + FFN </a:t>
            </a:r>
          </a:p>
          <a:p>
            <a:r>
              <a:rPr lang="cs-CZ" sz="1400" dirty="0"/>
              <a:t>+ MLP </a:t>
            </a:r>
            <a:r>
              <a:rPr lang="cs-CZ" sz="1400" dirty="0" err="1"/>
              <a:t>classifier</a:t>
            </a:r>
            <a:endParaRPr lang="cs-CZ" sz="1400" dirty="0"/>
          </a:p>
        </p:txBody>
      </p:sp>
      <p:sp>
        <p:nvSpPr>
          <p:cNvPr id="137" name="TextovéPole 136">
            <a:extLst>
              <a:ext uri="{FF2B5EF4-FFF2-40B4-BE49-F238E27FC236}">
                <a16:creationId xmlns:a16="http://schemas.microsoft.com/office/drawing/2014/main" id="{C8ACB37B-D88E-564E-5782-CAC58B6E9352}"/>
              </a:ext>
            </a:extLst>
          </p:cNvPr>
          <p:cNvSpPr txBox="1"/>
          <p:nvPr/>
        </p:nvSpPr>
        <p:spPr>
          <a:xfrm>
            <a:off x="385575" y="14192965"/>
            <a:ext cx="3043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Ligand </a:t>
            </a:r>
            <a:r>
              <a:rPr lang="cs-CZ" b="1" dirty="0" err="1"/>
              <a:t>cross-attention</a:t>
            </a:r>
            <a:r>
              <a:rPr lang="cs-CZ" b="1" dirty="0"/>
              <a:t> </a:t>
            </a:r>
          </a:p>
        </p:txBody>
      </p:sp>
      <p:sp>
        <p:nvSpPr>
          <p:cNvPr id="138" name="TextovéPole 137">
            <a:extLst>
              <a:ext uri="{FF2B5EF4-FFF2-40B4-BE49-F238E27FC236}">
                <a16:creationId xmlns:a16="http://schemas.microsoft.com/office/drawing/2014/main" id="{63AC5826-522B-2D24-C3C6-C5A525FB8E77}"/>
              </a:ext>
            </a:extLst>
          </p:cNvPr>
          <p:cNvSpPr txBox="1"/>
          <p:nvPr/>
        </p:nvSpPr>
        <p:spPr>
          <a:xfrm>
            <a:off x="63333" y="18101772"/>
            <a:ext cx="304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D. </a:t>
            </a:r>
            <a:r>
              <a:rPr lang="cs-CZ" sz="2400" b="1" dirty="0" err="1"/>
              <a:t>Graph</a:t>
            </a:r>
            <a:r>
              <a:rPr lang="cs-CZ" sz="2400" b="1" dirty="0"/>
              <a:t> </a:t>
            </a:r>
            <a:r>
              <a:rPr lang="cs-CZ" sz="2400" b="1" dirty="0" err="1"/>
              <a:t>Encoders</a:t>
            </a:r>
            <a:endParaRPr lang="cs-CZ" sz="2400" b="1" dirty="0"/>
          </a:p>
        </p:txBody>
      </p:sp>
      <p:pic>
        <p:nvPicPr>
          <p:cNvPr id="145" name="Obrázek 144" descr="Obsah obrázku kreslené, kresba, klipart, umění&#10;&#10;Obsah generovaný pomocí AI může být nesprávný.">
            <a:extLst>
              <a:ext uri="{FF2B5EF4-FFF2-40B4-BE49-F238E27FC236}">
                <a16:creationId xmlns:a16="http://schemas.microsoft.com/office/drawing/2014/main" id="{D0D81FF3-E5B1-9F39-D1B5-4B31CE7D97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403" b="36867"/>
          <a:stretch>
            <a:fillRect/>
          </a:stretch>
        </p:blipFill>
        <p:spPr>
          <a:xfrm>
            <a:off x="60712" y="18741529"/>
            <a:ext cx="1981478" cy="2460730"/>
          </a:xfrm>
          <a:prstGeom prst="rect">
            <a:avLst/>
          </a:prstGeom>
        </p:spPr>
      </p:pic>
      <p:pic>
        <p:nvPicPr>
          <p:cNvPr id="146" name="Obrázek 145" descr="Obsah obrázku kruh, Barevnost, světlo, noc&#10;&#10;Obsah generovaný pomocí AI může být nesprávný.">
            <a:extLst>
              <a:ext uri="{FF2B5EF4-FFF2-40B4-BE49-F238E27FC236}">
                <a16:creationId xmlns:a16="http://schemas.microsoft.com/office/drawing/2014/main" id="{057D9C6E-0B74-CD12-C979-0CEED2D7F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304" y="19383162"/>
            <a:ext cx="1169160" cy="1169160"/>
          </a:xfrm>
          <a:prstGeom prst="rect">
            <a:avLst/>
          </a:prstGeom>
        </p:spPr>
      </p:pic>
      <p:cxnSp>
        <p:nvCxnSpPr>
          <p:cNvPr id="148" name="Přímá spojovací šipka 147">
            <a:extLst>
              <a:ext uri="{FF2B5EF4-FFF2-40B4-BE49-F238E27FC236}">
                <a16:creationId xmlns:a16="http://schemas.microsoft.com/office/drawing/2014/main" id="{39BB4CCB-FD45-27D1-E8BE-36143D59235C}"/>
              </a:ext>
            </a:extLst>
          </p:cNvPr>
          <p:cNvCxnSpPr/>
          <p:nvPr/>
        </p:nvCxnSpPr>
        <p:spPr>
          <a:xfrm>
            <a:off x="2042190" y="19971894"/>
            <a:ext cx="1064381" cy="0"/>
          </a:xfrm>
          <a:prstGeom prst="straightConnector1">
            <a:avLst/>
          </a:prstGeom>
          <a:ln w="381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ovéPole 148">
            <a:extLst>
              <a:ext uri="{FF2B5EF4-FFF2-40B4-BE49-F238E27FC236}">
                <a16:creationId xmlns:a16="http://schemas.microsoft.com/office/drawing/2014/main" id="{3C9B127C-3CC1-CF66-D84F-3A1BB1DE3CDF}"/>
              </a:ext>
            </a:extLst>
          </p:cNvPr>
          <p:cNvSpPr txBox="1"/>
          <p:nvPr/>
        </p:nvSpPr>
        <p:spPr>
          <a:xfrm>
            <a:off x="2042190" y="20063857"/>
            <a:ext cx="1064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 err="1"/>
              <a:t>Pocket</a:t>
            </a:r>
            <a:r>
              <a:rPr lang="cs-CZ" sz="1400" dirty="0"/>
              <a:t> </a:t>
            </a:r>
            <a:r>
              <a:rPr lang="cs-CZ" sz="1400" dirty="0" err="1"/>
              <a:t>Extraction</a:t>
            </a:r>
            <a:endParaRPr lang="cs-CZ" sz="1400" dirty="0"/>
          </a:p>
        </p:txBody>
      </p:sp>
      <p:sp>
        <p:nvSpPr>
          <p:cNvPr id="150" name="TextovéPole 149">
            <a:extLst>
              <a:ext uri="{FF2B5EF4-FFF2-40B4-BE49-F238E27FC236}">
                <a16:creationId xmlns:a16="http://schemas.microsoft.com/office/drawing/2014/main" id="{999E56AB-0FCE-6157-5979-6EA49A974BC6}"/>
              </a:ext>
            </a:extLst>
          </p:cNvPr>
          <p:cNvSpPr txBox="1"/>
          <p:nvPr/>
        </p:nvSpPr>
        <p:spPr>
          <a:xfrm>
            <a:off x="3400304" y="20606890"/>
            <a:ext cx="1794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E(n)-GNN </a:t>
            </a:r>
            <a:r>
              <a:rPr lang="cs-CZ" dirty="0" err="1"/>
              <a:t>Encoder</a:t>
            </a:r>
            <a:endParaRPr lang="cs-CZ" dirty="0"/>
          </a:p>
        </p:txBody>
      </p:sp>
      <p:grpSp>
        <p:nvGrpSpPr>
          <p:cNvPr id="151" name="Skupina 150">
            <a:extLst>
              <a:ext uri="{FF2B5EF4-FFF2-40B4-BE49-F238E27FC236}">
                <a16:creationId xmlns:a16="http://schemas.microsoft.com/office/drawing/2014/main" id="{59820683-1375-3212-38F0-D311D259FF6C}"/>
              </a:ext>
            </a:extLst>
          </p:cNvPr>
          <p:cNvGrpSpPr/>
          <p:nvPr/>
        </p:nvGrpSpPr>
        <p:grpSpPr>
          <a:xfrm>
            <a:off x="5802060" y="19806903"/>
            <a:ext cx="2606031" cy="513907"/>
            <a:chOff x="12110223" y="6110869"/>
            <a:chExt cx="6901200" cy="1213200"/>
          </a:xfrm>
        </p:grpSpPr>
        <p:sp>
          <p:nvSpPr>
            <p:cNvPr id="152" name="Zaoblený obdélník 151">
              <a:extLst>
                <a:ext uri="{FF2B5EF4-FFF2-40B4-BE49-F238E27FC236}">
                  <a16:creationId xmlns:a16="http://schemas.microsoft.com/office/drawing/2014/main" id="{F0C07EF6-7515-D725-8E15-90AC3FB5FCE3}"/>
                </a:ext>
              </a:extLst>
            </p:cNvPr>
            <p:cNvSpPr>
              <a:spLocks/>
            </p:cNvSpPr>
            <p:nvPr/>
          </p:nvSpPr>
          <p:spPr>
            <a:xfrm>
              <a:off x="12110223" y="6110869"/>
              <a:ext cx="6444000" cy="756000"/>
            </a:xfrm>
            <a:prstGeom prst="roundRect">
              <a:avLst/>
            </a:prstGeom>
            <a:solidFill>
              <a:srgbClr val="D4C93B"/>
            </a:solidFill>
            <a:ln>
              <a:solidFill>
                <a:srgbClr val="D4C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53" name="Zaoblený obdélník 152">
              <a:extLst>
                <a:ext uri="{FF2B5EF4-FFF2-40B4-BE49-F238E27FC236}">
                  <a16:creationId xmlns:a16="http://schemas.microsoft.com/office/drawing/2014/main" id="{2D623699-80CE-B5B8-1F26-84CF1C899531}"/>
                </a:ext>
              </a:extLst>
            </p:cNvPr>
            <p:cNvSpPr>
              <a:spLocks/>
            </p:cNvSpPr>
            <p:nvPr/>
          </p:nvSpPr>
          <p:spPr>
            <a:xfrm>
              <a:off x="12262623" y="6263269"/>
              <a:ext cx="6444000" cy="756000"/>
            </a:xfrm>
            <a:prstGeom prst="roundRect">
              <a:avLst/>
            </a:prstGeom>
            <a:solidFill>
              <a:srgbClr val="5D0000"/>
            </a:solidFill>
            <a:ln>
              <a:solidFill>
                <a:srgbClr val="5D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54" name="Zaoblený obdélník 153">
              <a:extLst>
                <a:ext uri="{FF2B5EF4-FFF2-40B4-BE49-F238E27FC236}">
                  <a16:creationId xmlns:a16="http://schemas.microsoft.com/office/drawing/2014/main" id="{9DF0DE92-DC89-F45B-36DC-8944F98F49A7}"/>
                </a:ext>
              </a:extLst>
            </p:cNvPr>
            <p:cNvSpPr>
              <a:spLocks/>
            </p:cNvSpPr>
            <p:nvPr/>
          </p:nvSpPr>
          <p:spPr>
            <a:xfrm>
              <a:off x="12415023" y="6415669"/>
              <a:ext cx="6444000" cy="756000"/>
            </a:xfrm>
            <a:prstGeom prst="roundRect">
              <a:avLst/>
            </a:prstGeom>
            <a:solidFill>
              <a:srgbClr val="674600"/>
            </a:solidFill>
            <a:ln>
              <a:solidFill>
                <a:srgbClr val="674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55" name="Zaoblený obdélník 154">
              <a:extLst>
                <a:ext uri="{FF2B5EF4-FFF2-40B4-BE49-F238E27FC236}">
                  <a16:creationId xmlns:a16="http://schemas.microsoft.com/office/drawing/2014/main" id="{CE1DDC6B-3C68-EC3C-E70B-6B1D491A63E2}"/>
                </a:ext>
              </a:extLst>
            </p:cNvPr>
            <p:cNvSpPr>
              <a:spLocks/>
            </p:cNvSpPr>
            <p:nvPr/>
          </p:nvSpPr>
          <p:spPr>
            <a:xfrm>
              <a:off x="12567423" y="6568069"/>
              <a:ext cx="6444000" cy="756000"/>
            </a:xfrm>
            <a:prstGeom prst="roundRect">
              <a:avLst/>
            </a:prstGeom>
            <a:solidFill>
              <a:srgbClr val="4DA1D1"/>
            </a:solidFill>
            <a:ln>
              <a:solidFill>
                <a:srgbClr val="4DA1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</p:grpSp>
      <p:sp>
        <p:nvSpPr>
          <p:cNvPr id="156" name="TextovéPole 155">
            <a:extLst>
              <a:ext uri="{FF2B5EF4-FFF2-40B4-BE49-F238E27FC236}">
                <a16:creationId xmlns:a16="http://schemas.microsoft.com/office/drawing/2014/main" id="{53FA7536-C9A4-3350-73E4-C05059C91716}"/>
              </a:ext>
            </a:extLst>
          </p:cNvPr>
          <p:cNvSpPr txBox="1"/>
          <p:nvPr/>
        </p:nvSpPr>
        <p:spPr>
          <a:xfrm>
            <a:off x="5847368" y="20688695"/>
            <a:ext cx="2868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3D-enriched </a:t>
            </a:r>
            <a:r>
              <a:rPr lang="cs-CZ" dirty="0" err="1"/>
              <a:t>Embeddings</a:t>
            </a:r>
            <a:endParaRPr lang="cs-CZ" dirty="0"/>
          </a:p>
        </p:txBody>
      </p:sp>
      <p:cxnSp>
        <p:nvCxnSpPr>
          <p:cNvPr id="158" name="Přímá spojnice 157">
            <a:extLst>
              <a:ext uri="{FF2B5EF4-FFF2-40B4-BE49-F238E27FC236}">
                <a16:creationId xmlns:a16="http://schemas.microsoft.com/office/drawing/2014/main" id="{802BFF52-A8DC-A3FB-E0C7-20729D8A2DBC}"/>
              </a:ext>
            </a:extLst>
          </p:cNvPr>
          <p:cNvCxnSpPr/>
          <p:nvPr/>
        </p:nvCxnSpPr>
        <p:spPr>
          <a:xfrm>
            <a:off x="8517985" y="20140057"/>
            <a:ext cx="1435946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Přímá spojovací šipka 159">
            <a:extLst>
              <a:ext uri="{FF2B5EF4-FFF2-40B4-BE49-F238E27FC236}">
                <a16:creationId xmlns:a16="http://schemas.microsoft.com/office/drawing/2014/main" id="{3258C1A8-2911-B720-A91A-BCF7C10E5EAE}"/>
              </a:ext>
            </a:extLst>
          </p:cNvPr>
          <p:cNvCxnSpPr/>
          <p:nvPr/>
        </p:nvCxnSpPr>
        <p:spPr>
          <a:xfrm>
            <a:off x="11078025" y="20152408"/>
            <a:ext cx="1234118" cy="0"/>
          </a:xfrm>
          <a:prstGeom prst="straightConnector1">
            <a:avLst/>
          </a:prstGeom>
          <a:ln w="381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ovéPole 160">
            <a:extLst>
              <a:ext uri="{FF2B5EF4-FFF2-40B4-BE49-F238E27FC236}">
                <a16:creationId xmlns:a16="http://schemas.microsoft.com/office/drawing/2014/main" id="{ECF196EE-953D-D987-F10B-7D5ACE41D427}"/>
              </a:ext>
            </a:extLst>
          </p:cNvPr>
          <p:cNvSpPr txBox="1"/>
          <p:nvPr/>
        </p:nvSpPr>
        <p:spPr>
          <a:xfrm>
            <a:off x="9927771" y="19967742"/>
            <a:ext cx="1621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DNN Arch.</a:t>
            </a:r>
          </a:p>
        </p:txBody>
      </p:sp>
      <p:sp>
        <p:nvSpPr>
          <p:cNvPr id="162" name="TextovéPole 161">
            <a:extLst>
              <a:ext uri="{FF2B5EF4-FFF2-40B4-BE49-F238E27FC236}">
                <a16:creationId xmlns:a16="http://schemas.microsoft.com/office/drawing/2014/main" id="{54372055-6CAD-F99C-D093-5C95E8A9A8E1}"/>
              </a:ext>
            </a:extLst>
          </p:cNvPr>
          <p:cNvSpPr txBox="1"/>
          <p:nvPr/>
        </p:nvSpPr>
        <p:spPr>
          <a:xfrm>
            <a:off x="12623656" y="19955391"/>
            <a:ext cx="264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err="1"/>
              <a:t>Logits</a:t>
            </a:r>
            <a:endParaRPr lang="cs-CZ" b="1" dirty="0"/>
          </a:p>
        </p:txBody>
      </p:sp>
      <p:cxnSp>
        <p:nvCxnSpPr>
          <p:cNvPr id="163" name="Přímá spojovací šipka 162">
            <a:extLst>
              <a:ext uri="{FF2B5EF4-FFF2-40B4-BE49-F238E27FC236}">
                <a16:creationId xmlns:a16="http://schemas.microsoft.com/office/drawing/2014/main" id="{62595A53-7D9A-AAF8-59F5-0E03D35E28B7}"/>
              </a:ext>
            </a:extLst>
          </p:cNvPr>
          <p:cNvCxnSpPr/>
          <p:nvPr/>
        </p:nvCxnSpPr>
        <p:spPr>
          <a:xfrm>
            <a:off x="4567942" y="20063857"/>
            <a:ext cx="1234118" cy="0"/>
          </a:xfrm>
          <a:prstGeom prst="straightConnector1">
            <a:avLst/>
          </a:prstGeom>
          <a:ln w="381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333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D7D96B-C883-D4A2-F377-D76E7F4E8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CC4021-F64C-D384-252B-3A767C114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213797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i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357</TotalTime>
  <Words>156</Words>
  <Application>Microsoft Macintosh PowerPoint</Application>
  <PresentationFormat>Vlastní</PresentationFormat>
  <Paragraphs>46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Jáchym Urban</dc:creator>
  <cp:lastModifiedBy>Jáchym Urban</cp:lastModifiedBy>
  <cp:revision>9</cp:revision>
  <dcterms:created xsi:type="dcterms:W3CDTF">2026-08-07T12:42:21Z</dcterms:created>
  <dcterms:modified xsi:type="dcterms:W3CDTF">2026-09-13T14:36:40Z</dcterms:modified>
</cp:coreProperties>
</file>